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16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82880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675120"/>
            <a:ext cx="12188952" cy="182880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05156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spc="600" kern="0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COMPLEX  AUTOMATION  PRO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777240" y="1554480"/>
            <a:ext cx="105156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600" b="1" dirty="0">
                <a:solidFill>
                  <a:srgbClr val="E6ED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</a:t>
            </a:r>
            <a:endParaRPr lang="en-US" sz="9600" dirty="0"/>
          </a:p>
        </p:txBody>
      </p:sp>
      <p:sp>
        <p:nvSpPr>
          <p:cNvPr id="6" name="Text 4"/>
          <p:cNvSpPr/>
          <p:nvPr/>
        </p:nvSpPr>
        <p:spPr>
          <a:xfrm>
            <a:off x="822960" y="324612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6ED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Вдохновляющая презентация для выступления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822960" y="397764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8CA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Преобразуем обогащение руды через интеллектуальную автоматизацию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22960" y="580644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6ED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Демонстрация возможностей</a:t>
            </a:r>
            <a:pPr indent="0" marL="0">
              <a:buNone/>
            </a:pPr>
            <a:r>
              <a:rPr lang="en-US" sz="1400" dirty="0">
                <a:solidFill>
                  <a:srgbClr val="8CA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·   сентябрь 2026   ·   один сервер, реальный Modbus TCP, русский веб-интерфейс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E16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46304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292608"/>
            <a:ext cx="9692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E6ED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Вдохновение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9144000" y="347472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CA0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цитата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02920" y="6400800"/>
            <a:ext cx="11183112" cy="0"/>
          </a:xfrm>
          <a:prstGeom prst="line">
            <a:avLst/>
          </a:prstGeom>
          <a:noFill/>
          <a:ln w="9525">
            <a:solidFill>
              <a:srgbClr val="2A3A4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647395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CA0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CAP · 2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8485632" y="6473952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CA0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Complex Automation Pro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02920" y="1828800"/>
            <a:ext cx="111556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2400" dirty="0">
                <a:solidFill>
                  <a:srgbClr val="E6ED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"Автоматизация — это не замена человека, а усиление его способностей."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502920" y="3200400"/>
            <a:ext cx="11155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CA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Неизвестный инженер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E16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46304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292608"/>
            <a:ext cx="9692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E6ED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Вызов современного обогащения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9144000" y="347472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CA0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проблема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02920" y="6400800"/>
            <a:ext cx="11183112" cy="0"/>
          </a:xfrm>
          <a:prstGeom prst="line">
            <a:avLst/>
          </a:prstGeom>
          <a:noFill/>
          <a:ln w="9525">
            <a:solidFill>
              <a:srgbClr val="2A3A4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647395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CA0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CAP · 3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8485632" y="6473952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CA0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Complex Automation Pro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02920" y="1371600"/>
            <a:ext cx="1115568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12000"/>
              </a:lnSpc>
              <a:spcAft>
                <a:spcPts val="1000"/>
              </a:spcAft>
              <a:buSzPct val="100000"/>
              <a:buChar char="●"/>
            </a:pPr>
            <a:r>
              <a:rPr lang="en-US" sz="1500" dirty="0">
                <a:solidFill>
                  <a:srgbClr val="E6ED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Низкая извлекаемость полезных компонентов из-за колебаний сырья</a:t>
            </a:r>
            <a:endParaRPr lang="en-US" sz="1500" dirty="0"/>
          </a:p>
          <a:p>
            <a:pPr marL="177800" indent="-177800">
              <a:lnSpc>
                <a:spcPct val="112000"/>
              </a:lnSpc>
              <a:spcAft>
                <a:spcPts val="1000"/>
              </a:spcAft>
              <a:buSzPct val="100000"/>
              <a:buChar char="●"/>
            </a:pPr>
            <a:r>
              <a:rPr lang="en-US" sz="1500" dirty="0">
                <a:solidFill>
                  <a:srgbClr val="E6ED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Задержки в получении данных prowadят к несвоевременным решениям</a:t>
            </a:r>
            <a:endParaRPr lang="en-US" sz="1500" dirty="0"/>
          </a:p>
          <a:p>
            <a:pPr marL="177800" indent="-177800">
              <a:lnSpc>
                <a:spcPct val="112000"/>
              </a:lnSpc>
              <a:spcAft>
                <a:spcPts val="1000"/>
              </a:spcAft>
              <a:buSzPct val="100000"/>
              <a:buChar char="●"/>
            </a:pPr>
            <a:r>
              <a:rPr lang="en-US" sz="1500" dirty="0">
                <a:solidFill>
                  <a:srgbClr val="E6ED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Высокие потери энергии и реагентов из‑за неоптимального управления</a:t>
            </a:r>
            <a:endParaRPr lang="en-US" sz="1500" dirty="0"/>
          </a:p>
          <a:p>
            <a:pPr marL="177800" indent="-177800">
              <a:lnSpc>
                <a:spcPct val="112000"/>
              </a:lnSpc>
              <a:spcAft>
                <a:spcPts val="1000"/>
              </a:spcAft>
              <a:buSzPct val="100000"/>
              <a:buChar char="●"/>
            </a:pPr>
            <a:r>
              <a:rPr lang="en-US" sz="1500" dirty="0">
                <a:solidFill>
                  <a:srgbClr val="E6ED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Сложность интеграции разнородного оборудования (ПЛК, датчики, анализаторы)</a:t>
            </a:r>
            <a:endParaRPr lang="en-US" sz="1500" dirty="0"/>
          </a:p>
          <a:p>
            <a:pPr marL="177800" indent="-177800">
              <a:lnSpc>
                <a:spcPct val="112000"/>
              </a:lnSpc>
              <a:spcAft>
                <a:spcPts val="1000"/>
              </a:spcAft>
              <a:buSzPct val="100000"/>
              <a:buChar char="●"/>
            </a:pPr>
            <a:r>
              <a:rPr lang="en-US" sz="1500" dirty="0">
                <a:solidFill>
                  <a:srgbClr val="E6ED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Недостаток прозрачности расчётов — сложно аудировать и улучшать процесс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E16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46304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292608"/>
            <a:ext cx="9692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E6ED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Решение: CAP — интеллектуальная автоматизация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9144000" y="347472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CA0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решение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02920" y="6400800"/>
            <a:ext cx="11183112" cy="0"/>
          </a:xfrm>
          <a:prstGeom prst="line">
            <a:avLst/>
          </a:prstGeom>
          <a:noFill/>
          <a:ln w="9525">
            <a:solidFill>
              <a:srgbClr val="2A3A4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647395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CA0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CAP · 4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8485632" y="6473952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CA0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Complex Automation Pro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02920" y="1371600"/>
            <a:ext cx="1115568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12000"/>
              </a:lnSpc>
              <a:spcAft>
                <a:spcPts val="900"/>
              </a:spcAft>
              <a:buSzPct val="100000"/>
              <a:buChar char="●"/>
            </a:pPr>
            <a:r>
              <a:rPr lang="en-US" sz="1400" dirty="0">
                <a:solidFill>
                  <a:srgbClr val="E6ED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Полный контур: датчик → шлюз → сервер → исполнительные механизмы (Modbus FC6)</a:t>
            </a:r>
            <a:endParaRPr lang="en-US" sz="1400" dirty="0"/>
          </a:p>
          <a:p>
            <a:pPr marL="177800" indent="-177800">
              <a:lnSpc>
                <a:spcPct val="112000"/>
              </a:lnSpc>
              <a:spcAft>
                <a:spcPts val="900"/>
              </a:spcAft>
              <a:buSzPct val="100000"/>
              <a:buChar char="●"/>
            </a:pPr>
            <a:r>
              <a:rPr lang="en-US" sz="1400" dirty="0">
                <a:solidFill>
                  <a:srgbClr val="E6ED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Реальное время: задержка ≤ 2 с от измерения до действия</a:t>
            </a:r>
            <a:endParaRPr lang="en-US" sz="1400" dirty="0"/>
          </a:p>
          <a:p>
            <a:pPr marL="177800" indent="-177800">
              <a:lnSpc>
                <a:spcPct val="112000"/>
              </a:lnSpc>
              <a:spcAft>
                <a:spcPts val="900"/>
              </a:spcAft>
              <a:buSzPct val="100000"/>
              <a:buChar char="●"/>
            </a:pPr>
            <a:r>
              <a:rPr lang="en-US" sz="1400" dirty="0">
                <a:solidFill>
                  <a:srgbClr val="E6ED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Металлургический баланс с аудируемыми формулами — прозрачность и доверие</a:t>
            </a:r>
            <a:endParaRPr lang="en-US" sz="1400" dirty="0"/>
          </a:p>
          <a:p>
            <a:pPr marL="177800" indent="-177800">
              <a:lnSpc>
                <a:spcPct val="112000"/>
              </a:lnSpc>
              <a:spcAft>
                <a:spcPts val="900"/>
              </a:spcAft>
              <a:buSzPct val="100000"/>
              <a:buChar char="●"/>
            </a:pPr>
            <a:r>
              <a:rPr lang="en-US" sz="1400" dirty="0">
                <a:solidFill>
                  <a:srgbClr val="E6ED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Три супервизорных ПИД‑контура с адаптивной настройкой и защитой</a:t>
            </a:r>
            <a:endParaRPr lang="en-US" sz="1400" dirty="0"/>
          </a:p>
          <a:p>
            <a:pPr marL="177800" indent="-177800">
              <a:lnSpc>
                <a:spcPct val="112000"/>
              </a:lnSpc>
              <a:spcAft>
                <a:spcPts val="900"/>
              </a:spcAft>
              <a:buSzPct val="100000"/>
              <a:buChar char="●"/>
            </a:pPr>
            <a:r>
              <a:rPr lang="en-US" sz="1400" dirty="0">
                <a:solidFill>
                  <a:srgbClr val="E6ED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Тревоги по ISA‑18.2: рационализированные уставки, неизменяемый журнал</a:t>
            </a:r>
            <a:endParaRPr lang="en-US" sz="1400" dirty="0"/>
          </a:p>
          <a:p>
            <a:pPr marL="177800" indent="-177800">
              <a:lnSpc>
                <a:spcPct val="112000"/>
              </a:lnSpc>
              <a:spcAft>
                <a:spcPts val="900"/>
              </a:spcAft>
              <a:buSzPct val="100000"/>
              <a:buChar char="●"/>
            </a:pPr>
            <a:r>
              <a:rPr lang="en-US" sz="1400" dirty="0">
                <a:solidFill>
                  <a:srgbClr val="E6ED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Надёжная телеметрия: store‑and‑forward, идемпотентная доставка</a:t>
            </a:r>
            <a:endParaRPr lang="en-US" sz="1400" dirty="0"/>
          </a:p>
          <a:p>
            <a:pPr marL="177800" indent="-177800">
              <a:lnSpc>
                <a:spcPct val="112000"/>
              </a:lnSpc>
              <a:spcAft>
                <a:spcPts val="900"/>
              </a:spcAft>
              <a:buSzPct val="100000"/>
              <a:buChar char="●"/>
            </a:pPr>
            <a:r>
              <a:rPr lang="en-US" sz="1400" dirty="0">
                <a:solidFill>
                  <a:srgbClr val="E6ED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Безопасность: RBAC, аудит, машинная аутентификация шлюзов</a:t>
            </a:r>
            <a:endParaRPr lang="en-US" sz="1400" dirty="0"/>
          </a:p>
          <a:p>
            <a:pPr marL="177800" indent="-177800">
              <a:lnSpc>
                <a:spcPct val="112000"/>
              </a:lnSpc>
              <a:spcAft>
                <a:spcPts val="900"/>
              </a:spcAft>
              <a:buSzPct val="100000"/>
              <a:buChar char="●"/>
            </a:pPr>
            <a:r>
              <a:rPr lang="en-US" sz="1400" dirty="0">
                <a:solidFill>
                  <a:srgbClr val="E6ED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Гибкость: ПИД‑алгоритмы могут работать на сервере, внешних ПЛК или ESP32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E16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46304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292608"/>
            <a:ext cx="9692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E6ED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Схема взаимодействия CAP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9144000" y="347472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CA0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схема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02920" y="6400800"/>
            <a:ext cx="11183112" cy="0"/>
          </a:xfrm>
          <a:prstGeom prst="line">
            <a:avLst/>
          </a:prstGeom>
          <a:noFill/>
          <a:ln w="9525">
            <a:solidFill>
              <a:srgbClr val="2A3A4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647395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CA0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CAP · 5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8485632" y="6473952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CA0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Complex Automation Pro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703320" y="1234440"/>
            <a:ext cx="4754880" cy="1783080"/>
          </a:xfrm>
          <a:prstGeom prst="roundRect">
            <a:avLst>
              <a:gd name="adj" fmla="val 3077"/>
            </a:avLst>
          </a:prstGeom>
          <a:solidFill>
            <a:srgbClr val="16202E"/>
          </a:solidFill>
          <a:ln w="15875">
            <a:solidFill>
              <a:srgbClr val="38BDF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703320" y="1325880"/>
            <a:ext cx="4754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capd — сервер :8000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3813048" y="1709928"/>
            <a:ext cx="4535424" cy="12161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8CA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REST API · WebSocket · аутентификация и RBAC</a:t>
            </a:r>
            <a:endParaRPr lang="en-US" sz="11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8CA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приём телеметрии (идемпотентно) · историк</a:t>
            </a:r>
            <a:endParaRPr lang="en-US" sz="11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8CA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тревоги ISA-18.2 · ПИД-контуры · металлургия</a:t>
            </a:r>
            <a:endParaRPr lang="en-US" sz="11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8CA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встроенный веб-интерфейс (SPA)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3703320" y="3977640"/>
            <a:ext cx="4754880" cy="1463040"/>
          </a:xfrm>
          <a:prstGeom prst="roundRect">
            <a:avLst>
              <a:gd name="adj" fmla="val 3750"/>
            </a:avLst>
          </a:prstGeom>
          <a:solidFill>
            <a:srgbClr val="16202E"/>
          </a:solidFill>
          <a:ln w="15875">
            <a:solidFill>
              <a:srgbClr val="34D39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703320" y="4069080"/>
            <a:ext cx="4754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edge — шлюз сбора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3813048" y="4453128"/>
            <a:ext cx="4535424" cy="8961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8CA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опрос Modbus 1 Гц · буфер store-and-forward</a:t>
            </a:r>
            <a:endParaRPr lang="en-US" sz="11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8CA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доставка с подтверждением, без дублей</a:t>
            </a:r>
            <a:endParaRPr lang="en-US" sz="11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8CA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FC6-мост записи актуаторов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02920" y="3977640"/>
            <a:ext cx="2377440" cy="1463040"/>
          </a:xfrm>
          <a:prstGeom prst="roundRect">
            <a:avLst>
              <a:gd name="adj" fmla="val 3750"/>
            </a:avLst>
          </a:prstGeom>
          <a:solidFill>
            <a:srgbClr val="16202E"/>
          </a:solidFill>
          <a:ln w="15875">
            <a:solidFill>
              <a:srgbClr val="F59E0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2920" y="4069080"/>
            <a:ext cx="2377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plantsim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612648" y="4453128"/>
            <a:ext cx="2157984" cy="8961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8CA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демо-стенд процесса</a:t>
            </a:r>
            <a:endParaRPr lang="en-US" sz="11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8CA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Modbus TCP :1502</a:t>
            </a:r>
            <a:endParaRPr lang="en-US" sz="11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8CA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(в эксплуатации — ПЛК)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9326880" y="3977640"/>
            <a:ext cx="2377440" cy="1463040"/>
          </a:xfrm>
          <a:prstGeom prst="roundRect">
            <a:avLst>
              <a:gd name="adj" fmla="val 3750"/>
            </a:avLst>
          </a:prstGeom>
          <a:solidFill>
            <a:srgbClr val="16202E"/>
          </a:solidFill>
          <a:ln w="15875">
            <a:solidFill>
              <a:srgbClr val="F59E0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326880" y="4069080"/>
            <a:ext cx="2377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завод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9436608" y="4453128"/>
            <a:ext cx="2157984" cy="8961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8CA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контроллеры и датчики</a:t>
            </a:r>
            <a:endParaRPr lang="en-US" sz="11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8CA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того же протокола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1737360" y="3931920"/>
            <a:ext cx="2468880" cy="-868680"/>
          </a:xfrm>
          <a:prstGeom prst="line">
            <a:avLst/>
          </a:prstGeom>
          <a:noFill/>
          <a:ln w="25400">
            <a:solidFill>
              <a:srgbClr val="34D399"/>
            </a:solidFill>
            <a:prstDash val="solid"/>
            <a:tailEnd type="triangle"/>
          </a:ln>
        </p:spPr>
      </p:sp>
      <p:sp>
        <p:nvSpPr>
          <p:cNvPr id="21" name="Text 19"/>
          <p:cNvSpPr/>
          <p:nvPr/>
        </p:nvSpPr>
        <p:spPr>
          <a:xfrm>
            <a:off x="2057400" y="3113532"/>
            <a:ext cx="1828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CA0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Modbus TCP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6035040" y="3931920"/>
            <a:ext cx="0" cy="-868680"/>
          </a:xfrm>
          <a:prstGeom prst="line">
            <a:avLst/>
          </a:prstGeom>
          <a:noFill/>
          <a:ln w="25400">
            <a:solidFill>
              <a:srgbClr val="34D399"/>
            </a:solidFill>
            <a:prstDash val="solid"/>
            <a:tailEnd type="triangle"/>
          </a:ln>
        </p:spPr>
      </p:sp>
      <p:sp>
        <p:nvSpPr>
          <p:cNvPr id="23" name="Text 21"/>
          <p:cNvSpPr/>
          <p:nvPr/>
        </p:nvSpPr>
        <p:spPr>
          <a:xfrm>
            <a:off x="5120640" y="3113532"/>
            <a:ext cx="1828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CA0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HTTP batch · ingest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7955280" y="3063240"/>
            <a:ext cx="0" cy="868680"/>
          </a:xfrm>
          <a:prstGeom prst="line">
            <a:avLst/>
          </a:prstGeom>
          <a:noFill/>
          <a:ln w="25400">
            <a:solidFill>
              <a:srgbClr val="38BDF8"/>
            </a:solidFill>
            <a:prstDash val="solid"/>
            <a:tailEnd type="triangle"/>
          </a:ln>
        </p:spPr>
      </p:sp>
      <p:sp>
        <p:nvSpPr>
          <p:cNvPr id="25" name="Text 23"/>
          <p:cNvSpPr/>
          <p:nvPr/>
        </p:nvSpPr>
        <p:spPr>
          <a:xfrm>
            <a:off x="7040880" y="3113532"/>
            <a:ext cx="1828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CA0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 /control/output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10515600" y="3931920"/>
            <a:ext cx="-2286000" cy="-868680"/>
          </a:xfrm>
          <a:prstGeom prst="line">
            <a:avLst/>
          </a:prstGeom>
          <a:noFill/>
          <a:ln w="25400">
            <a:solidFill>
              <a:srgbClr val="38BDF8"/>
            </a:solidFill>
            <a:prstDash val="solid"/>
            <a:tailEnd type="triangle"/>
          </a:ln>
        </p:spPr>
      </p:sp>
      <p:sp>
        <p:nvSpPr>
          <p:cNvPr id="27" name="Text 25"/>
          <p:cNvSpPr/>
          <p:nvPr/>
        </p:nvSpPr>
        <p:spPr>
          <a:xfrm>
            <a:off x="8458200" y="3113532"/>
            <a:ext cx="1828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CA0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FC6 запись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502920" y="5806440"/>
            <a:ext cx="11155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8CA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Единственный путь данных: станция → Modbus → edge → ingest → capd → экран. Расчётные теги calc_* идут через тот же контракт.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E16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46304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292608"/>
            <a:ext cx="9692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E6ED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Преимущества CAP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9144000" y="347472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CA0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выгоды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02920" y="6400800"/>
            <a:ext cx="11183112" cy="0"/>
          </a:xfrm>
          <a:prstGeom prst="line">
            <a:avLst/>
          </a:prstGeom>
          <a:noFill/>
          <a:ln w="9525">
            <a:solidFill>
              <a:srgbClr val="2A3A4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647395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CA0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CAP · 6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8485632" y="6473952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CA0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Complex Automation Pro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02920" y="1371600"/>
            <a:ext cx="1115568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12000"/>
              </a:lnSpc>
              <a:spcAft>
                <a:spcPts val="900"/>
              </a:spcAft>
              <a:buSzPct val="100000"/>
              <a:buChar char="●"/>
            </a:pPr>
            <a:r>
              <a:rPr lang="en-US" sz="1400" dirty="0">
                <a:solidFill>
                  <a:srgbClr val="E6ED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Увеличение извлечения ε до 90 % и более благодаря точному управлению</a:t>
            </a:r>
            <a:endParaRPr lang="en-US" sz="1400" dirty="0"/>
          </a:p>
          <a:p>
            <a:pPr marL="177800" indent="-177800">
              <a:lnSpc>
                <a:spcPct val="112000"/>
              </a:lnSpc>
              <a:spcAft>
                <a:spcPts val="900"/>
              </a:spcAft>
              <a:buSzPct val="100000"/>
              <a:buChar char="●"/>
            </a:pPr>
            <a:r>
              <a:rPr lang="en-US" sz="1400" dirty="0">
                <a:solidFill>
                  <a:srgbClr val="E6ED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Снижение удельных расходов реагентов и энергии за счёт оптимизации</a:t>
            </a:r>
            <a:endParaRPr lang="en-US" sz="1400" dirty="0"/>
          </a:p>
          <a:p>
            <a:pPr marL="177800" indent="-177800">
              <a:lnSpc>
                <a:spcPct val="112000"/>
              </a:lnSpc>
              <a:spcAft>
                <a:spcPts val="900"/>
              </a:spcAft>
              <a:buSzPct val="100000"/>
              <a:buChar char="●"/>
            </a:pPr>
            <a:r>
              <a:rPr lang="en-US" sz="1400" dirty="0">
                <a:solidFill>
                  <a:srgbClr val="E6ED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Повышение надёжности процесса: отсутствие фиктивных данных при обрывах</a:t>
            </a:r>
            <a:endParaRPr lang="en-US" sz="1400" dirty="0"/>
          </a:p>
          <a:p>
            <a:pPr marL="177800" indent="-177800">
              <a:lnSpc>
                <a:spcPct val="112000"/>
              </a:lnSpc>
              <a:spcAft>
                <a:spcPts val="900"/>
              </a:spcAft>
              <a:buSzPct val="100000"/>
              <a:buChar char="●"/>
            </a:pPr>
            <a:r>
              <a:rPr lang="en-US" sz="1400" dirty="0">
                <a:solidFill>
                  <a:srgbClr val="E6ED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Уменьшение простоев благодаря быстрой диагностике тревог и автоматическому восстановлению</a:t>
            </a:r>
            <a:endParaRPr lang="en-US" sz="1400" dirty="0"/>
          </a:p>
          <a:p>
            <a:pPr marL="177800" indent="-177800">
              <a:lnSpc>
                <a:spcPct val="112000"/>
              </a:lnSpc>
              <a:spcAft>
                <a:spcPts val="900"/>
              </a:spcAft>
              <a:buSzPct val="100000"/>
              <a:buChar char="●"/>
            </a:pPr>
            <a:r>
              <a:rPr lang="en-US" sz="1400" dirty="0">
                <a:solidFill>
                  <a:srgbClr val="E6ED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Прозрачность и аудируемость: каждый KPI сопровождается формулой и источниками данных</a:t>
            </a:r>
            <a:endParaRPr lang="en-US" sz="1400" dirty="0"/>
          </a:p>
          <a:p>
            <a:pPr marL="177800" indent="-177800">
              <a:lnSpc>
                <a:spcPct val="112000"/>
              </a:lnSpc>
              <a:spcAft>
                <a:spcPts val="900"/>
              </a:spcAft>
              <a:buSzPct val="100000"/>
              <a:buChar char="●"/>
            </a:pPr>
            <a:r>
              <a:rPr lang="en-US" sz="1400" dirty="0">
                <a:solidFill>
                  <a:srgbClr val="E6ED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Масштабируемость: возможность добавлять OPC UA, Sparkplug, кластеризацию</a:t>
            </a:r>
            <a:endParaRPr lang="en-US" sz="1400" dirty="0"/>
          </a:p>
          <a:p>
            <a:pPr marL="177800" indent="-177800">
              <a:lnSpc>
                <a:spcPct val="112000"/>
              </a:lnSpc>
              <a:spcAft>
                <a:spcPts val="900"/>
              </a:spcAft>
              <a:buSzPct val="100000"/>
              <a:buChar char="●"/>
            </a:pPr>
            <a:r>
              <a:rPr lang="en-US" sz="1400" dirty="0">
                <a:solidFill>
                  <a:srgbClr val="E6ED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Соответствие международным стандартам: ISA‑18.2, IEC 61511, ISA‑101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E16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46304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292608"/>
            <a:ext cx="9692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E6ED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Приглашение к действию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9144000" y="347472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CA0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призыв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02920" y="6400800"/>
            <a:ext cx="11183112" cy="0"/>
          </a:xfrm>
          <a:prstGeom prst="line">
            <a:avLst/>
          </a:prstGeom>
          <a:noFill/>
          <a:ln w="9525">
            <a:solidFill>
              <a:srgbClr val="2A3A4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647395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CA0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CAP · 7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8485632" y="6473952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CA0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Complex Automation Pro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02920" y="1371600"/>
            <a:ext cx="1115568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12000"/>
              </a:lnSpc>
              <a:spcAft>
                <a:spcPts val="900"/>
              </a:spcAft>
              <a:buSzPct val="100000"/>
              <a:buChar char="●"/>
            </a:pPr>
            <a:r>
              <a:rPr lang="en-US" sz="1400" dirty="0">
                <a:solidFill>
                  <a:srgbClr val="E6ED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Запустить демо одной командой: cd backend &amp;&amp; ./run.sh</a:t>
            </a:r>
            <a:endParaRPr lang="en-US" sz="1400" dirty="0"/>
          </a:p>
          <a:p>
            <a:pPr marL="177800" indent="-177800">
              <a:lnSpc>
                <a:spcPct val="112000"/>
              </a:lnSpc>
              <a:spcAft>
                <a:spcPts val="900"/>
              </a:spcAft>
              <a:buSzPct val="100000"/>
              <a:buChar char="●"/>
            </a:pPr>
            <a:r>
              <a:rPr lang="en-US" sz="1400" dirty="0">
                <a:solidFill>
                  <a:srgbClr val="E6ED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Оценить работу системы на http://127.0.0.1:8000 (логин operator/operator)</a:t>
            </a:r>
            <a:endParaRPr lang="en-US" sz="1400" dirty="0"/>
          </a:p>
          <a:p>
            <a:pPr marL="177800" indent="-177800">
              <a:lnSpc>
                <a:spcPct val="112000"/>
              </a:lnSpc>
              <a:spcAft>
                <a:spcPts val="900"/>
              </a:spcAft>
              <a:buSzPct val="100000"/>
              <a:buChar char="●"/>
            </a:pPr>
            <a:r>
              <a:rPr lang="en-US" sz="1400" dirty="0">
                <a:solidFill>
                  <a:srgbClr val="E6ED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Пройти скриптованную демонстрацию: demo/run-demo.sh (~15 мин)</a:t>
            </a:r>
            <a:endParaRPr lang="en-US" sz="1400" dirty="0"/>
          </a:p>
          <a:p>
            <a:pPr marL="177800" indent="-177800">
              <a:lnSpc>
                <a:spcPct val="112000"/>
              </a:lnSpc>
              <a:spcAft>
                <a:spcPts val="900"/>
              </a:spcAft>
              <a:buSzPct val="100000"/>
              <a:buChar char="●"/>
            </a:pPr>
            <a:r>
              <a:rPr lang="en-US" sz="1400" dirty="0">
                <a:solidFill>
                  <a:srgbClr val="E6ED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Изучить техническую документацию: технический паспорт, руководство оператора</a:t>
            </a:r>
            <a:endParaRPr lang="en-US" sz="1400" dirty="0"/>
          </a:p>
          <a:p>
            <a:pPr marL="177800" indent="-177800">
              <a:lnSpc>
                <a:spcPct val="112000"/>
              </a:lnSpc>
              <a:spcAft>
                <a:spcPts val="900"/>
              </a:spcAft>
              <a:buSzPct val="100000"/>
              <a:buChar char="●"/>
            </a:pPr>
            <a:r>
              <a:rPr lang="en-US" sz="1400" dirty="0">
                <a:solidFill>
                  <a:srgbClr val="E6ED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Присоединиться к развитию CAP: открытый код, лицензия MIT, сообщество разработчиков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02920" y="4572000"/>
            <a:ext cx="11155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4D399"/>
                </a:solidFill>
              </a:rPr>
              <a:t>Вместе мы сделаем обогащение руды более эффективным, чистым и безопасным.</a:t>
            </a:r>
            <a:endParaRPr lang="en-US" sz="1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E16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82880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675120"/>
            <a:ext cx="12188952" cy="182880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2286000"/>
            <a:ext cx="10515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E6ED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Спасибо за внимание!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822960" y="365760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8CA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Вопросы и обсуждение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822960" y="457200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CA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Контакт: cap@example.com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CAP — Вдохновляющая презентация для выступления</dc:title>
  <dc:subject>PptxGenJS Presentation</dc:subject>
  <dc:creator>CAP</dc:creator>
  <cp:lastModifiedBy>CAP</cp:lastModifiedBy>
  <cp:revision>1</cp:revision>
  <dcterms:created xsi:type="dcterms:W3CDTF">2026-09-11T10:11:48Z</dcterms:created>
  <dcterms:modified xsi:type="dcterms:W3CDTF">2026-09-11T10:11:48Z</dcterms:modified>
</cp:coreProperties>
</file>
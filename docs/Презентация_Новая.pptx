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spc="600" kern="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  AUTOMATION  PRO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АСУ ТП участка флотационного обогащения руды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Диспетчерский контроль · металлургический баланс · супервизорное управление · тревоги ISA-18.2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Демонстрация MVP 1.0</a:t>
            </a:r>
            <a:pPr indent="0" marL="0">
              <a:buNone/>
            </a:pPr>
            <a:r>
              <a:rPr lang="en-US" sz="140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сентябрь 2026   ·   один сервер, реальный Modbus TCP, русский веб-интерфейс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такое CAP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0" y="3474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обзор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2A3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 · 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85632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 Automation Pro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SCADA-система участка обогащения в одном бинарнике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1737360"/>
            <a:ext cx="2713482" cy="841248"/>
          </a:xfrm>
          <a:prstGeom prst="roundRect">
            <a:avLst>
              <a:gd name="adj" fmla="val 5435"/>
            </a:avLst>
          </a:prstGeom>
          <a:solidFill>
            <a:srgbClr val="16202E"/>
          </a:solidFill>
          <a:ln w="12700">
            <a:solidFill>
              <a:srgbClr val="2A3A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10512"/>
            <a:ext cx="2713482" cy="4374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02920" y="2208459"/>
            <a:ext cx="2713482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серверный процесс capd — UI, API, историк, тревоги, контуры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26130" y="1737360"/>
            <a:ext cx="2713482" cy="841248"/>
          </a:xfrm>
          <a:prstGeom prst="roundRect">
            <a:avLst>
              <a:gd name="adj" fmla="val 5435"/>
            </a:avLst>
          </a:prstGeom>
          <a:solidFill>
            <a:srgbClr val="16202E"/>
          </a:solidFill>
          <a:ln w="12700">
            <a:solidFill>
              <a:srgbClr val="2A3A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26130" y="1810512"/>
            <a:ext cx="2713482" cy="4374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326130" y="2208459"/>
            <a:ext cx="2713482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тега: 28 датчиков, 7 актуаторов, 8 расчётных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49340" y="1737360"/>
            <a:ext cx="2713482" cy="841248"/>
          </a:xfrm>
          <a:prstGeom prst="roundRect">
            <a:avLst>
              <a:gd name="adj" fmla="val 5435"/>
            </a:avLst>
          </a:prstGeom>
          <a:solidFill>
            <a:srgbClr val="16202E"/>
          </a:solidFill>
          <a:ln w="12700">
            <a:solidFill>
              <a:srgbClr val="2A3A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49340" y="1810512"/>
            <a:ext cx="2713482" cy="4374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Гц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149340" y="2208459"/>
            <a:ext cx="2713482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опрос Modbus TCP, задержка до экрана ≤ 2 с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972550" y="1737360"/>
            <a:ext cx="2713482" cy="841248"/>
          </a:xfrm>
          <a:prstGeom prst="roundRect">
            <a:avLst>
              <a:gd name="adj" fmla="val 5435"/>
            </a:avLst>
          </a:prstGeom>
          <a:solidFill>
            <a:srgbClr val="16202E"/>
          </a:solidFill>
          <a:ln w="12700">
            <a:solidFill>
              <a:srgbClr val="2A3A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2550" y="1810512"/>
            <a:ext cx="2713482" cy="4374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972550" y="2208459"/>
            <a:ext cx="2713482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супервизорные ПИД-контура АВТО/РУЧН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3063240"/>
            <a:ext cx="111556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 контур: контроллер → шлюз → сервер → экран оператора — только реальный протокол Modbus TCP, без «подрисованных» данных.</a:t>
            </a:r>
            <a:endParaRPr lang="en-US" sz="15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Инженерные расчёты, а не украшения: двухпродуктовый баланс, извлечение ε, энергия Бонда, циркулирующая нагрузка — каждая формула показана в интерфейсе.</a:t>
            </a:r>
            <a:endParaRPr lang="en-US" sz="15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Управление, а не только мониторинг: уставки, режимы, watchdog и запись воздействий в станцию (FC6) с аудитом.</a:t>
            </a:r>
            <a:endParaRPr lang="en-US" sz="15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Тревоги по ISA-18.2: рационализированные уставки, приоритеты, квитирование, неизменяемый журнал.</a:t>
            </a:r>
            <a:endParaRPr lang="en-US" sz="15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HMI по мотивам ISA-101: мнемосхема, faceplate, тренды, тёмная тема дежурного пункта.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Архитектура: модульный монолит + шлюз + стенд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0" y="3474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схема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2A3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 · 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85632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 Automation Pro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703320" y="1234440"/>
            <a:ext cx="4754880" cy="1783080"/>
          </a:xfrm>
          <a:prstGeom prst="roundRect">
            <a:avLst>
              <a:gd name="adj" fmla="val 3077"/>
            </a:avLst>
          </a:prstGeom>
          <a:solidFill>
            <a:srgbClr val="16202E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3320" y="132588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capd — сервер :8000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13048" y="1709928"/>
            <a:ext cx="4535424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· WebSocket · аутентификация и RBAC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приём телеметрии (идемпотентно) · историк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тревоги ISA-18.2 · ПИД-контуры · металлургия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встроенный веб-интерфейс (SPA)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703320" y="3977640"/>
            <a:ext cx="4754880" cy="1463040"/>
          </a:xfrm>
          <a:prstGeom prst="roundRect">
            <a:avLst>
              <a:gd name="adj" fmla="val 3750"/>
            </a:avLst>
          </a:prstGeom>
          <a:solidFill>
            <a:srgbClr val="16202E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406908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 — шлюз сбора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813048" y="4453128"/>
            <a:ext cx="4535424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опрос Modbus 1 Гц · буфер store-and-forward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доставка с подтверждением, без дублей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FC6-мост записи актуаторов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977640"/>
            <a:ext cx="2377440" cy="1463040"/>
          </a:xfrm>
          <a:prstGeom prst="roundRect">
            <a:avLst>
              <a:gd name="adj" fmla="val 3750"/>
            </a:avLst>
          </a:prstGeom>
          <a:solidFill>
            <a:srgbClr val="16202E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0690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plantsim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12648" y="4453128"/>
            <a:ext cx="2157984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демо-стенд процесса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Modbus TCP :1502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(в эксплуатации — ПЛК)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326880" y="3977640"/>
            <a:ext cx="2377440" cy="1463040"/>
          </a:xfrm>
          <a:prstGeom prst="roundRect">
            <a:avLst>
              <a:gd name="adj" fmla="val 3750"/>
            </a:avLst>
          </a:prstGeom>
          <a:solidFill>
            <a:srgbClr val="16202E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0" y="40690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завод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436608" y="4453128"/>
            <a:ext cx="2157984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контроллеры и датчики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того же протокола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737360" y="3931920"/>
            <a:ext cx="2468880" cy="-86868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2057400" y="311353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Modbus TCP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35040" y="3931920"/>
            <a:ext cx="0" cy="-86868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5120640" y="311353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batch · ingest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955280" y="3063240"/>
            <a:ext cx="0" cy="86868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7040880" y="311353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/control/output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0515600" y="3931920"/>
            <a:ext cx="-2286000" cy="-86868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8458200" y="311353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FC6 запись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580644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Единственный путь данных: станция → Modbus → edge → ingest → capd → экран. Расчётные теги calc_* идут через тот же контракт.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Мнемосхема: процесс целиком на одном экране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0" y="3474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HMI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2A3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 · 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85632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 Automation Pro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" y="1133856"/>
            <a:ext cx="7699248" cy="4616006"/>
          </a:xfrm>
          <a:prstGeom prst="rect">
            <a:avLst/>
          </a:prstGeom>
          <a:solidFill>
            <a:srgbClr val="1B2838"/>
          </a:solidFill>
          <a:ln w="12700">
            <a:solidFill>
              <a:srgbClr val="2A3A4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88720"/>
            <a:ext cx="7589520" cy="450627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549640" y="1463040"/>
            <a:ext cx="31546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Технологическая цепочка с живыми значениями: бункер → дробилка → мельница + гидроциклон → флотация → сгуститель → фильтр → отгрузка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Цвет узла = состояние: норма / тревога / нет связи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Клик по узлу — паспорт объекта, клик по метрике — тренд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Обновление в реальном времени через WebSocket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Тёмная тема дежурного пункта (ISA-101)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0" y="3474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HMI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2A3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 · 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85632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 Automation Pro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" y="1133856"/>
            <a:ext cx="7699248" cy="4616006"/>
          </a:xfrm>
          <a:prstGeom prst="rect">
            <a:avLst/>
          </a:prstGeom>
          <a:solidFill>
            <a:srgbClr val="1B2838"/>
          </a:solidFill>
          <a:ln w="12700">
            <a:solidFill>
              <a:srgbClr val="2A3A4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88720"/>
            <a:ext cx="7589520" cy="450627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549640" y="1463040"/>
            <a:ext cx="31546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Приглушённая палитра — глаз оператора не «выгорает» за смену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Цвет используется только для смысла: состояние и поток, не декор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Обе темы работают на всех страницах без исключений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Системные шрифты — работа в закрытом контуре (air-gap), без CDN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Данные: реальный протокол и честная надёжность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0" y="3474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платформа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2A3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 · 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85632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 Automation Pro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371600"/>
            <a:ext cx="2713482" cy="841248"/>
          </a:xfrm>
          <a:prstGeom prst="roundRect">
            <a:avLst>
              <a:gd name="adj" fmla="val 5435"/>
            </a:avLst>
          </a:prstGeom>
          <a:solidFill>
            <a:srgbClr val="16202E"/>
          </a:solidFill>
          <a:ln w="12700">
            <a:solidFill>
              <a:srgbClr val="2A3A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44752"/>
            <a:ext cx="2713482" cy="4374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+ 7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02920" y="1842699"/>
            <a:ext cx="2713482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датчиков и актуаторов в карте регистров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26130" y="1371600"/>
            <a:ext cx="2713482" cy="841248"/>
          </a:xfrm>
          <a:prstGeom prst="roundRect">
            <a:avLst>
              <a:gd name="adj" fmla="val 5435"/>
            </a:avLst>
          </a:prstGeom>
          <a:solidFill>
            <a:srgbClr val="16202E"/>
          </a:solidFill>
          <a:ln w="12700">
            <a:solidFill>
              <a:srgbClr val="2A3A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6130" y="1444752"/>
            <a:ext cx="2713482" cy="4374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с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26130" y="1842699"/>
            <a:ext cx="2713482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период опроса и шаг историка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49340" y="1371600"/>
            <a:ext cx="2713482" cy="841248"/>
          </a:xfrm>
          <a:prstGeom prst="roundRect">
            <a:avLst>
              <a:gd name="adj" fmla="val 5435"/>
            </a:avLst>
          </a:prstGeom>
          <a:solidFill>
            <a:srgbClr val="16202E"/>
          </a:solidFill>
          <a:ln w="12700">
            <a:solidFill>
              <a:srgbClr val="2A3A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49340" y="1444752"/>
            <a:ext cx="2713482" cy="4374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сут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149340" y="1842699"/>
            <a:ext cx="2713482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глубина историка при SQLite WAL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972550" y="1371600"/>
            <a:ext cx="2713482" cy="841248"/>
          </a:xfrm>
          <a:prstGeom prst="roundRect">
            <a:avLst>
              <a:gd name="adj" fmla="val 5435"/>
            </a:avLst>
          </a:prstGeom>
          <a:solidFill>
            <a:srgbClr val="16202E"/>
          </a:solidFill>
          <a:ln w="12700">
            <a:solidFill>
              <a:srgbClr val="2A3A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72550" y="1444752"/>
            <a:ext cx="2713482" cy="4374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972550" y="1842699"/>
            <a:ext cx="2713482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дублей после обрыва — идемпотентная доставка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2697480"/>
            <a:ext cx="111556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 регистров Modbus (FC3/FC4/FC6) — контракт со станцией: адрес, масштаб, шкала инженерных единиц для каждого тега.</a:t>
            </a:r>
            <a:endParaRPr lang="en-US" sz="15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Обрыв связи станция ↔ шлюз: качество offline, разрыв линии на тренде — фиктивных значений нет.</a:t>
            </a:r>
            <a:endParaRPr lang="en-US" sz="15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Обрыв шлюз ↔ сервер: буфер SQLite store-and-forward, после восстановления — полная досылка без дублей и потери порядка.</a:t>
            </a:r>
            <a:endParaRPr lang="en-US" sz="15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Актуаторы при потере сервера удерживают последние значения, а не сбрасываются в ноль (инстинкт IEC 61511).</a:t>
            </a:r>
            <a:endParaRPr lang="en-US" sz="15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Выгрузки CSV за период — отчётность без ручного копирования.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Металлургия: баланс, который можно проверить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0" y="3474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расчёты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2A3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 ·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85632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 Automation Pro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" y="1271016"/>
            <a:ext cx="7699248" cy="4616006"/>
          </a:xfrm>
          <a:prstGeom prst="rect">
            <a:avLst/>
          </a:prstGeom>
          <a:solidFill>
            <a:srgbClr val="1B2838"/>
          </a:solidFill>
          <a:ln w="12700">
            <a:solidFill>
              <a:srgbClr val="2A3A4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7589520" cy="450627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549640" y="1554480"/>
            <a:ext cx="31546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 ≈ 88–90 % в номинале — и формула на карточке: ε = β(α−θ)/(α(β−θ))×100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Невязка баланса ≤ ±1 %, иначе — предупреждение «проверь XRF/весы»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Энергия Бонда, КПД мельницы, циркулирующая нагрузка, удельные расходы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 каждого показателя указаны — расчёт аудируется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Целевые коридоры — из активного профиля руды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Эти показатели представляют макромайн‑анализ (агрегированные характеристики процесса) и основаны на данных‑майнинге (data‑main) – обработке больших объёмов телеметрии для выявления закономерностей и оптимизации параметров обогащения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Управление: супервизорные ПИД-контуры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0" y="3474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управление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2A3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 · 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85632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 Automation Pro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" y="1271016"/>
            <a:ext cx="7699248" cy="4616006"/>
          </a:xfrm>
          <a:prstGeom prst="rect">
            <a:avLst/>
          </a:prstGeom>
          <a:solidFill>
            <a:srgbClr val="1B2838"/>
          </a:solidFill>
          <a:ln w="12700">
            <a:solidFill>
              <a:srgbClr val="2A3A4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7589520" cy="450627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549640" y="1554480"/>
            <a:ext cx="31546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контура: уровень флотомашины lic301, расход собирателя fic301, плотность сгущения dic401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Режимы АВТО/РУЧН; любая запись — с подтверждением и записью в аудит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Безбамперный переход в АВТО — от фактической позиции актуатора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Watchdog 10 с: нет достоверного PV → РУЧН, выход заморожен, тревога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станцию пишет только шлюз (FC6) и только в АВТО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Реализация ПИД-алгоритмов возможна на сервере capd, внешних ПЛК или ESP32 через Modbus FC6; локальные контуры на ESP32 обеспечивают быструю обратную связь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Тревоги по ISA-18.2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0" y="3474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тревоги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2A3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 · 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85632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 Automation Pro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" y="1271016"/>
            <a:ext cx="7699248" cy="4616006"/>
          </a:xfrm>
          <a:prstGeom prst="rect">
            <a:avLst/>
          </a:prstGeom>
          <a:solidFill>
            <a:srgbClr val="1B2838"/>
          </a:solidFill>
          <a:ln w="12700">
            <a:solidFill>
              <a:srgbClr val="2A3A4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7589520" cy="450627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549640" y="1554480"/>
            <a:ext cx="31546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Рационализированные уставки: lo_lo / lo / hi / hi_hi с приоритетами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Задержка 3 с (критические) и 10 с, гистерезис 1 % шкалы — без «дребезга»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Квитирование от имени оператора (из сессии) + комментарий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Неизменяемый журнал: сработала / сброшена / квитирована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comm_loss по активу при потере данных &gt; 10 с; критическая тревога — баннер на всех страницах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Паспорт объекта: всё по узлу — в одном окне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0" y="3474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HMI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2A3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 · 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85632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 Automation Pro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" y="1271016"/>
            <a:ext cx="7699248" cy="4616006"/>
          </a:xfrm>
          <a:prstGeom prst="rect">
            <a:avLst/>
          </a:prstGeom>
          <a:solidFill>
            <a:srgbClr val="1B2838"/>
          </a:solidFill>
          <a:ln w="12700">
            <a:solidFill>
              <a:srgbClr val="2A3A4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7589520" cy="450627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549640" y="1554480"/>
            <a:ext cx="31546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Клик по узлу мнемосхемы — модальный паспорт объекта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параметры узла с качеством каждого значения (good / offline)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Панели контуров узла: PV / SP / MV, полоса положения, кнопки с подтверждением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Уставки сигнализации — в разделе «Тревоги» (ISA-18.2)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 и подотчётность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0" y="3474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платформа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2A3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 · 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85632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 Automation Pro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325880"/>
            <a:ext cx="11183112" cy="932688"/>
          </a:xfrm>
          <a:prstGeom prst="roundRect">
            <a:avLst>
              <a:gd name="adj" fmla="val 4902"/>
            </a:avLst>
          </a:prstGeom>
          <a:solidFill>
            <a:srgbClr val="16202E"/>
          </a:solidFill>
          <a:ln w="12700">
            <a:solidFill>
              <a:srgbClr val="2A3A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408176"/>
            <a:ext cx="31089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Аутентификация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023360" y="1408176"/>
            <a:ext cx="74980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Локальные учётные записи (PBKDF2-SHA256), серверные сессии в HttpOnly-cookie на 12 ч, выход по кнопке.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2395728"/>
            <a:ext cx="11183112" cy="932688"/>
          </a:xfrm>
          <a:prstGeom prst="roundRect">
            <a:avLst>
              <a:gd name="adj" fmla="val 4902"/>
            </a:avLst>
          </a:prstGeom>
          <a:solidFill>
            <a:srgbClr val="16202E"/>
          </a:solidFill>
          <a:ln w="12700">
            <a:solidFill>
              <a:srgbClr val="2A3A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478024"/>
            <a:ext cx="31089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Роли (RBAC)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023360" y="2478024"/>
            <a:ext cx="74980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Оператор: квитирование, уставки, сценарии. Администратор: реестр, доступ, аудит. Права проверяются на API.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465576"/>
            <a:ext cx="11183112" cy="932688"/>
          </a:xfrm>
          <a:prstGeom prst="roundRect">
            <a:avLst>
              <a:gd name="adj" fmla="val 4902"/>
            </a:avLst>
          </a:prstGeom>
          <a:solidFill>
            <a:srgbClr val="16202E"/>
          </a:solidFill>
          <a:ln w="12700">
            <a:solidFill>
              <a:srgbClr val="2A3A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547872"/>
            <a:ext cx="31089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Аудит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023360" y="3547872"/>
            <a:ext cx="74980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Каждая мутация — с субъектом из сессии и меткой времени; команды управления только с явным подтверждением.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4535424"/>
            <a:ext cx="11183112" cy="932688"/>
          </a:xfrm>
          <a:prstGeom prst="roundRect">
            <a:avLst>
              <a:gd name="adj" fmla="val 4902"/>
            </a:avLst>
          </a:prstGeom>
          <a:solidFill>
            <a:srgbClr val="16202E"/>
          </a:solidFill>
          <a:ln w="12700">
            <a:solidFill>
              <a:srgbClr val="2A3A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617720"/>
            <a:ext cx="31089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Машины и человек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023360" y="4617720"/>
            <a:ext cx="74980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Шлюзы аутентифицируются отдельным секретом GATEWAY_TOKEN; пользовательские сессии и устройства разделены.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5605272"/>
            <a:ext cx="11183112" cy="932688"/>
          </a:xfrm>
          <a:prstGeom prst="roundRect">
            <a:avLst>
              <a:gd name="adj" fmla="val 4902"/>
            </a:avLst>
          </a:prstGeom>
          <a:solidFill>
            <a:srgbClr val="16202E"/>
          </a:solidFill>
          <a:ln w="12700">
            <a:solidFill>
              <a:srgbClr val="2A3A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687568"/>
            <a:ext cx="31089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Граница безопасности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023360" y="5687568"/>
            <a:ext cx="74980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Супервизорный контур не заменяет противоаварийную защиту: при потере данных воздействие замораживается (IEC 61511).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Демонстрация: 15 минут, 7 эпизодов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0" y="3474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сценарий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2A3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 · 12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85632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 Automation Pro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1353312"/>
            <a:ext cx="457200" cy="457200"/>
          </a:xfrm>
          <a:prstGeom prst="ellipse">
            <a:avLst/>
          </a:prstGeom>
          <a:solidFill>
            <a:srgbClr val="1B2838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353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1280160"/>
            <a:ext cx="10424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Нормальный режим   </a:t>
            </a:r>
            <a:pPr indent="0" marL="0">
              <a:buNone/>
            </a:pPr>
            <a:r>
              <a:rPr lang="en-US" sz="13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баланс сходится, ε ≈ 90 %, тренды живые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2011680"/>
            <a:ext cx="457200" cy="457200"/>
          </a:xfrm>
          <a:prstGeom prst="ellipse">
            <a:avLst/>
          </a:prstGeom>
          <a:solidFill>
            <a:srgbClr val="1B2838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1938528"/>
            <a:ext cx="10424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Контур в АВТО   </a:t>
            </a:r>
            <a:pPr indent="0" marL="0">
              <a:buNone/>
            </a:pPr>
            <a:r>
              <a:rPr lang="en-US" sz="13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 500→550 мм: задвижка отрабатывает, уровень выходит на уставку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2670048"/>
            <a:ext cx="457200" cy="457200"/>
          </a:xfrm>
          <a:prstGeom prst="ellipse">
            <a:avLst/>
          </a:prstGeom>
          <a:solidFill>
            <a:srgbClr val="1B2838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670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2596896"/>
            <a:ext cx="10424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Возмущение по руде   </a:t>
            </a:r>
            <a:pPr indent="0" marL="0">
              <a:buNone/>
            </a:pPr>
            <a:r>
              <a:rPr lang="en-US" sz="13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крепче руда → P80 растёт → ε падает → тревога по хвостам; оператор: вода мельницы + расход собирателя → ε восстановлено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66928" y="3328416"/>
            <a:ext cx="457200" cy="457200"/>
          </a:xfrm>
          <a:prstGeom prst="ellipse">
            <a:avLst/>
          </a:prstGeom>
          <a:solidFill>
            <a:srgbClr val="1B2838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3284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3255264"/>
            <a:ext cx="10424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Обрыв связи   </a:t>
            </a:r>
            <a:pPr indent="0" marL="0">
              <a:buNone/>
            </a:pPr>
            <a:r>
              <a:rPr lang="en-US" sz="13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и разрывы трендов → восстановление; буфер шлюза досылает всё без дублей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3986784"/>
            <a:ext cx="457200" cy="457200"/>
          </a:xfrm>
          <a:prstGeom prst="ellipse">
            <a:avLst/>
          </a:prstGeom>
          <a:solidFill>
            <a:srgbClr val="1B2838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9867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4440" y="3913632"/>
            <a:ext cx="10424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Отказ насоса сгустителя   </a:t>
            </a:r>
            <a:pPr indent="0" marL="0">
              <a:buNone/>
            </a:pPr>
            <a:r>
              <a:rPr lang="en-US" sz="13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постель и момент растут → hi_hi; оператор берёт контур в РУЧН → тревоги очищаются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66928" y="4645152"/>
            <a:ext cx="457200" cy="457200"/>
          </a:xfrm>
          <a:prstGeom prst="ellipse">
            <a:avLst/>
          </a:prstGeom>
          <a:solidFill>
            <a:srgbClr val="1B2838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6451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34440" y="4572000"/>
            <a:ext cx="10424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Дрейф XRF   </a:t>
            </a:r>
            <a:pPr indent="0" marL="0">
              <a:buNone/>
            </a:pPr>
            <a:r>
              <a:rPr lang="en-US" sz="13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невязка уходит в предупреждение — встроенный детектор несогласованности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66928" y="5303520"/>
            <a:ext cx="457200" cy="457200"/>
          </a:xfrm>
          <a:prstGeom prst="ellipse">
            <a:avLst/>
          </a:prstGeom>
          <a:solidFill>
            <a:srgbClr val="1B2838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5303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34440" y="5230368"/>
            <a:ext cx="10424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Отчёты   </a:t>
            </a:r>
            <a:pPr indent="0" marL="0">
              <a:buNone/>
            </a:pPr>
            <a:r>
              <a:rPr lang="en-US" sz="13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выгрузка показаний и тревог в CSV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Инновационные алгоритмы металлургического баланса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0" y="3474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алгоритмы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2A3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 · 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85632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 Automation Pro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" y="1271016"/>
            <a:ext cx="7699248" cy="4616006"/>
          </a:xfrm>
          <a:prstGeom prst="rect">
            <a:avLst/>
          </a:prstGeom>
          <a:solidFill>
            <a:srgbClr val="1B2838"/>
          </a:solidFill>
          <a:ln w="12700">
            <a:solidFill>
              <a:srgbClr val="2A3A4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7589520" cy="450627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549640" y="1554480"/>
            <a:ext cx="31546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Двухпродуктовый баланс с формулой ε = β(α−θ)/(α(β−θ))×100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Встроенный детектор несогласованности: невязка ≤ ±1 % и сходимость извлечений ≤ 5 %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Автокоррекция при дрейфе XRF: адаптивный коэффициент калибровки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Индикатор закрытия баланса в реальном времени на мнемосхеме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показатель сопровождается строкой формулы и тегами‑источниками (аудируемость)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Адаптивная настройка ПИД-контуров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0" y="3474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управление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2A3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 · 15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85632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 Automation Pro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" y="1271016"/>
            <a:ext cx="7699248" cy="4616006"/>
          </a:xfrm>
          <a:prstGeom prst="rect">
            <a:avLst/>
          </a:prstGeom>
          <a:solidFill>
            <a:srgbClr val="1B2838"/>
          </a:solidFill>
          <a:ln w="12700">
            <a:solidFill>
              <a:srgbClr val="2A3A4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7589520" cy="450627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549640" y="1554480"/>
            <a:ext cx="31546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Састройка коэффициентов Kp/Ki на основе оценки процесса gain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 scheduling в зависимости от производительности питателя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Безбамперный переход в АВТО: инициализация интеграла от фактической позиции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Анти‑windup и защита от насыщения актуатора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Watchdog 10 с: при потере PV — переход в РУЧН, замораживание выхода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Алгоритмы адаптивной настройки могут выполняться на сервере capd, внешних ПЛК или ESP32, обеспечивая гибкость распределённого управления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Автоматическое регулирование pH без вмешательства оператора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0" y="3474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авторегуляция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2A3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 · 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85632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 Automation Pro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" y="1271016"/>
            <a:ext cx="7699248" cy="4616006"/>
          </a:xfrm>
          <a:prstGeom prst="rect">
            <a:avLst/>
          </a:prstGeom>
          <a:solidFill>
            <a:srgbClr val="1B2838"/>
          </a:solidFill>
          <a:ln w="12700">
            <a:solidFill>
              <a:srgbClr val="2A3A4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7589520" cy="450627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549640" y="1554480"/>
            <a:ext cx="31546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Контур pH поддерживает заданный диапазон 10,0–10,5 через подачу реагентов (щелочь/кислота) по сигналу ПИД.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 самонастройки: адаптивный gain scheduling в зависимости от температуры и скорости потока.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Безбамперный переход в АВТО и анти‑windup защита исключают скачки при переключении режимов.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отклонении pH более ±0,2 от уставки формируется предупреждение, а при более ±0,5 — критическая тревога с автоматическим переходом в безопасный режим.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действия логируются в аудит с меткой времени и оператором (если вмешательство требуется).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 рационализации тревог по ISA-18.2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0" y="3474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тревоги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2A3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 · 17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85632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 Automation Pro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" y="1271016"/>
            <a:ext cx="7699248" cy="4616006"/>
          </a:xfrm>
          <a:prstGeom prst="rect">
            <a:avLst/>
          </a:prstGeom>
          <a:solidFill>
            <a:srgbClr val="1B2838"/>
          </a:solidFill>
          <a:ln w="12700">
            <a:solidFill>
              <a:srgbClr val="2A3A4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7589520" cy="450627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549640" y="1554480"/>
            <a:ext cx="31546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Алгоритмическое определение пределов lo/hi на основе стандартного отклонения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Гистерезис 1 % шкалы и задержка срабатывания 3 с (критические) / 10 с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Автоматическое присваивание приоритетов в зависимости от влияния на продукт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Неизменяемый журнал событий: сработала/сброшена/квитирована с оператором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Квитирование от имени оператора с обязательным комментарием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Надежная доставка телеметрии и аудит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0" y="3474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надежность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2A3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 ·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85632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 Automation Pro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" y="1271016"/>
            <a:ext cx="7699248" cy="4616006"/>
          </a:xfrm>
          <a:prstGeom prst="rect">
            <a:avLst/>
          </a:prstGeom>
          <a:solidFill>
            <a:srgbClr val="1B2838"/>
          </a:solidFill>
          <a:ln w="12700">
            <a:solidFill>
              <a:srgbClr val="2A3A4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7589520" cy="450627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549640" y="1554480"/>
            <a:ext cx="31546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Store‑and‑forward буфер SQLite с message_id для идемпотентной доставки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Доставка «exactly‑once» без дублей и сохранением порядка при восстановлении связи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Криптографически защищённый аудит: каждая мутация подписана сессией и меткой времени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Разделение ролей: оператор — квитирование и уставки; администратор — реестр и аудит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Машинная аутентификация шлюзов по постоянному времени сравнения секрета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Характеристики и статус проекта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0" y="3474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итоги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2A3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 ·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85632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 Automation Pro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325880"/>
            <a:ext cx="2713482" cy="841248"/>
          </a:xfrm>
          <a:prstGeom prst="roundRect">
            <a:avLst>
              <a:gd name="adj" fmla="val 5435"/>
            </a:avLst>
          </a:prstGeom>
          <a:solidFill>
            <a:srgbClr val="16202E"/>
          </a:solidFill>
          <a:ln w="12700">
            <a:solidFill>
              <a:srgbClr val="2A3A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99032"/>
            <a:ext cx="2713482" cy="4374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2 с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02920" y="1796979"/>
            <a:ext cx="2713482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датчик → экран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26130" y="1325880"/>
            <a:ext cx="2713482" cy="841248"/>
          </a:xfrm>
          <a:prstGeom prst="roundRect">
            <a:avLst>
              <a:gd name="adj" fmla="val 5435"/>
            </a:avLst>
          </a:prstGeom>
          <a:solidFill>
            <a:srgbClr val="16202E"/>
          </a:solidFill>
          <a:ln w="12700">
            <a:solidFill>
              <a:srgbClr val="2A3A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6130" y="1399032"/>
            <a:ext cx="2713482" cy="4374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100/с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326130" y="1796979"/>
            <a:ext cx="2713482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поток значений в приёме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49340" y="1325880"/>
            <a:ext cx="2713482" cy="841248"/>
          </a:xfrm>
          <a:prstGeom prst="roundRect">
            <a:avLst>
              <a:gd name="adj" fmla="val 5435"/>
            </a:avLst>
          </a:prstGeom>
          <a:solidFill>
            <a:srgbClr val="16202E"/>
          </a:solidFill>
          <a:ln w="12700">
            <a:solidFill>
              <a:srgbClr val="2A3A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49340" y="1399032"/>
            <a:ext cx="2713482" cy="4374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200 МБ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149340" y="1796979"/>
            <a:ext cx="2713482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память сервера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972550" y="1325880"/>
            <a:ext cx="2713482" cy="841248"/>
          </a:xfrm>
          <a:prstGeom prst="roundRect">
            <a:avLst>
              <a:gd name="adj" fmla="val 5435"/>
            </a:avLst>
          </a:prstGeom>
          <a:solidFill>
            <a:srgbClr val="16202E"/>
          </a:solidFill>
          <a:ln w="12700">
            <a:solidFill>
              <a:srgbClr val="2A3A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72550" y="1399032"/>
            <a:ext cx="2713482" cy="4374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30 с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972550" y="1796979"/>
            <a:ext cx="2713482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холодный старт демо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2514600"/>
            <a:ext cx="111556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Готово сегодня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Сбор, историк, металлургия, три контура управления, тревоги ISA-18.2, полный HMI, RBAC и аудит, демо-скрипт — приёмочные тесты зелёные (go test, сборка фронтенда).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Осознанные границы MVP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узел без кластеризации · локальная аутентификация (OIDC/LDAP — далее) · без downsampling историка · Modbus TCP в демо-контуре (OPC UA/Sparkplug — в коде шлюза).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Следующие шаги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Пилот на реальном контроллере → PostgreSQL и резервирование → нагрузочные испытания → подключение OPC UA.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 — Новая презентация</dc:title>
  <dc:subject>PptxGenJS Presentation</dc:subject>
  <dc:creator>CAP</dc:creator>
  <cp:lastModifiedBy>CAP</cp:lastModifiedBy>
  <cp:revision>1</cp:revision>
  <dcterms:created xsi:type="dcterms:W3CDTF">2026-09-11T10:10:03Z</dcterms:created>
  <dcterms:modified xsi:type="dcterms:W3CDTF">2026-09-11T10:10:03Z</dcterms:modified>
</cp:coreProperties>
</file>
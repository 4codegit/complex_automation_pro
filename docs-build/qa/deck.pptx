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6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8288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0515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spc="600" kern="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COMPLEX  AUTOMATION  PRO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77240" y="1554480"/>
            <a:ext cx="10515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E6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</a:t>
            </a:r>
            <a:endParaRPr lang="en-US" sz="9600" dirty="0"/>
          </a:p>
        </p:txBody>
      </p:sp>
      <p:sp>
        <p:nvSpPr>
          <p:cNvPr id="6" name="Text 4"/>
          <p:cNvSpPr/>
          <p:nvPr/>
        </p:nvSpPr>
        <p:spPr>
          <a:xfrm>
            <a:off x="822960" y="32461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АСУ ТП участка флотационного обогащения руды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822960" y="39776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C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Диспетчерский контроль · металлургический баланс · супервизорное управление · тревоги ISA-18.2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58064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Демонстрация MVP 1.0</a:t>
            </a:r>
            <a:pPr indent="0" marL="0">
              <a:buNone/>
            </a:pPr>
            <a:r>
              <a:rPr lang="en-US" sz="1400" dirty="0">
                <a:solidFill>
                  <a:srgbClr val="8C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сентябрь 2026   ·   один сервер, реальный Modbus TCP, русский веб-интерфейс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16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4630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92608"/>
            <a:ext cx="9692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6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такое CAP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9144000" y="347472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CA0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обзор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6400800"/>
            <a:ext cx="11183112" cy="0"/>
          </a:xfrm>
          <a:prstGeom prst="line">
            <a:avLst/>
          </a:prstGeom>
          <a:noFill/>
          <a:ln w="9525">
            <a:solidFill>
              <a:srgbClr val="2A3A4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A0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CAP · 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485632" y="647395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A0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Complex Automation Pro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105156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C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SCADA-система участка обогащения в одном бинарнике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02920" y="1737360"/>
            <a:ext cx="2713482" cy="841248"/>
          </a:xfrm>
          <a:prstGeom prst="roundRect">
            <a:avLst>
              <a:gd name="adj" fmla="val 5435"/>
            </a:avLst>
          </a:prstGeom>
          <a:solidFill>
            <a:srgbClr val="16202E"/>
          </a:solidFill>
          <a:ln w="12700">
            <a:solidFill>
              <a:srgbClr val="2A3A4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810512"/>
            <a:ext cx="2713482" cy="4374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502920" y="2208459"/>
            <a:ext cx="2713482" cy="3364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серверный процесс capd — UI, API, историк, тревоги, контуры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326130" y="1737360"/>
            <a:ext cx="2713482" cy="841248"/>
          </a:xfrm>
          <a:prstGeom prst="roundRect">
            <a:avLst>
              <a:gd name="adj" fmla="val 5435"/>
            </a:avLst>
          </a:prstGeom>
          <a:solidFill>
            <a:srgbClr val="16202E"/>
          </a:solidFill>
          <a:ln w="12700">
            <a:solidFill>
              <a:srgbClr val="2A3A4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26130" y="1810512"/>
            <a:ext cx="2713482" cy="4374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3326130" y="2208459"/>
            <a:ext cx="2713482" cy="3364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тега: 28 датчиков, 7 актуаторов, 8 расчётных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149340" y="1737360"/>
            <a:ext cx="2713482" cy="841248"/>
          </a:xfrm>
          <a:prstGeom prst="roundRect">
            <a:avLst>
              <a:gd name="adj" fmla="val 5435"/>
            </a:avLst>
          </a:prstGeom>
          <a:solidFill>
            <a:srgbClr val="16202E"/>
          </a:solidFill>
          <a:ln w="12700">
            <a:solidFill>
              <a:srgbClr val="2A3A4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49340" y="1810512"/>
            <a:ext cx="2713482" cy="4374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Гц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6149340" y="2208459"/>
            <a:ext cx="2713482" cy="3364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опрос Modbus TCP, задержка до экрана ≤ 2 с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972550" y="1737360"/>
            <a:ext cx="2713482" cy="841248"/>
          </a:xfrm>
          <a:prstGeom prst="roundRect">
            <a:avLst>
              <a:gd name="adj" fmla="val 5435"/>
            </a:avLst>
          </a:prstGeom>
          <a:solidFill>
            <a:srgbClr val="16202E"/>
          </a:solidFill>
          <a:ln w="12700">
            <a:solidFill>
              <a:srgbClr val="2A3A4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72550" y="1810512"/>
            <a:ext cx="2713482" cy="4374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8972550" y="2208459"/>
            <a:ext cx="2713482" cy="3364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супервизорные ПИД-контура АВТО/РУЧН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02920" y="3063240"/>
            <a:ext cx="1115568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E6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Полный контур: контроллер → шлюз → сервер → экран оператора — только реальный протокол Modbus TCP, без «подрисованных» данных.</a:t>
            </a:r>
            <a:endParaRPr lang="en-US" sz="150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E6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Инженерные расчёты, а не украшения: двухпродуктовый баланс, извлечение ε, энергия Бонда, циркулирующая нагрузка — каждая формула показана в интерфейсе.</a:t>
            </a:r>
            <a:endParaRPr lang="en-US" sz="150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E6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Управление, а не только мониторинг: уставки, режимы, watchdog и запись воздействий в станцию (FC6) с аудитом.</a:t>
            </a:r>
            <a:endParaRPr lang="en-US" sz="150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E6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Тревоги по ISA-18.2: рационализированные уставки, приоритеты, квитирование, неизменяемый журнал.</a:t>
            </a:r>
            <a:endParaRPr lang="en-US" sz="150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E6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HMI по мотивам ISA-101: мнемосхема, faceplate, тренды, тёмная тема дежурного пункта.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16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4630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92608"/>
            <a:ext cx="9692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6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Архитектура: модульный монолит + шлюз + стенд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9144000" y="347472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CA0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схема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6400800"/>
            <a:ext cx="11183112" cy="0"/>
          </a:xfrm>
          <a:prstGeom prst="line">
            <a:avLst/>
          </a:prstGeom>
          <a:noFill/>
          <a:ln w="9525">
            <a:solidFill>
              <a:srgbClr val="2A3A4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A0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CAP · 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485632" y="647395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A0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Complex Automation Pro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703320" y="1234440"/>
            <a:ext cx="4754880" cy="1783080"/>
          </a:xfrm>
          <a:prstGeom prst="roundRect">
            <a:avLst>
              <a:gd name="adj" fmla="val 3077"/>
            </a:avLst>
          </a:prstGeom>
          <a:solidFill>
            <a:srgbClr val="16202E"/>
          </a:solidFill>
          <a:ln w="15875">
            <a:solidFill>
              <a:srgbClr val="38BD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703320" y="1325880"/>
            <a:ext cx="4754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capd — сервер :8000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813048" y="1709928"/>
            <a:ext cx="4535424" cy="12161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8C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 API · WebSocket · аутентификация и RBAC</a:t>
            </a:r>
            <a:endParaRPr lang="en-US" sz="11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8C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приём телеметрии (идемпотентно) · историк</a:t>
            </a:r>
            <a:endParaRPr lang="en-US" sz="11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8C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тревоги ISA-18.2 · ПИД-контуры · металлургия</a:t>
            </a:r>
            <a:endParaRPr lang="en-US" sz="11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8C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встроенный веб-интерфейс (SPA)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703320" y="3977640"/>
            <a:ext cx="4754880" cy="1463040"/>
          </a:xfrm>
          <a:prstGeom prst="roundRect">
            <a:avLst>
              <a:gd name="adj" fmla="val 3750"/>
            </a:avLst>
          </a:prstGeom>
          <a:solidFill>
            <a:srgbClr val="16202E"/>
          </a:solidFill>
          <a:ln w="15875">
            <a:solidFill>
              <a:srgbClr val="34D39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03320" y="4069080"/>
            <a:ext cx="4754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edge — шлюз сбора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813048" y="4453128"/>
            <a:ext cx="4535424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8C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опрос Modbus 1 Гц · буфер store-and-forward</a:t>
            </a:r>
            <a:endParaRPr lang="en-US" sz="11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8C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доставка с подтверждением, без дублей</a:t>
            </a:r>
            <a:endParaRPr lang="en-US" sz="11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8C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FC6-мост записи актуаторов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02920" y="3977640"/>
            <a:ext cx="2377440" cy="1463040"/>
          </a:xfrm>
          <a:prstGeom prst="roundRect">
            <a:avLst>
              <a:gd name="adj" fmla="val 3750"/>
            </a:avLst>
          </a:prstGeom>
          <a:solidFill>
            <a:srgbClr val="16202E"/>
          </a:solidFill>
          <a:ln w="15875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406908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plantsim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12648" y="4453128"/>
            <a:ext cx="2157984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8C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демо-стенд процесса</a:t>
            </a:r>
            <a:endParaRPr lang="en-US" sz="11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8C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Modbus TCP :1502</a:t>
            </a:r>
            <a:endParaRPr lang="en-US" sz="11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8C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(в эксплуатации — ПЛК)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9326880" y="3977640"/>
            <a:ext cx="2377440" cy="1463040"/>
          </a:xfrm>
          <a:prstGeom prst="roundRect">
            <a:avLst>
              <a:gd name="adj" fmla="val 3750"/>
            </a:avLst>
          </a:prstGeom>
          <a:solidFill>
            <a:srgbClr val="16202E"/>
          </a:solidFill>
          <a:ln w="15875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326880" y="406908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завод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436608" y="4453128"/>
            <a:ext cx="2157984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8C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контроллеры и датчики</a:t>
            </a:r>
            <a:endParaRPr lang="en-US" sz="11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8C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того же протокола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1737360" y="3931920"/>
            <a:ext cx="2468880" cy="-868680"/>
          </a:xfrm>
          <a:prstGeom prst="line">
            <a:avLst/>
          </a:prstGeom>
          <a:noFill/>
          <a:ln w="25400">
            <a:solidFill>
              <a:srgbClr val="34D399"/>
            </a:solidFill>
            <a:prstDash val="solid"/>
            <a:tailEnd type="triangle"/>
          </a:ln>
        </p:spPr>
      </p:sp>
      <p:sp>
        <p:nvSpPr>
          <p:cNvPr id="21" name="Text 19"/>
          <p:cNvSpPr/>
          <p:nvPr/>
        </p:nvSpPr>
        <p:spPr>
          <a:xfrm>
            <a:off x="2057400" y="3113532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A0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Modbus TCP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035040" y="3931920"/>
            <a:ext cx="0" cy="-868680"/>
          </a:xfrm>
          <a:prstGeom prst="line">
            <a:avLst/>
          </a:prstGeom>
          <a:noFill/>
          <a:ln w="25400">
            <a:solidFill>
              <a:srgbClr val="34D399"/>
            </a:solidFill>
            <a:prstDash val="solid"/>
            <a:tailEnd type="triangle"/>
          </a:ln>
        </p:spPr>
      </p:sp>
      <p:sp>
        <p:nvSpPr>
          <p:cNvPr id="23" name="Text 21"/>
          <p:cNvSpPr/>
          <p:nvPr/>
        </p:nvSpPr>
        <p:spPr>
          <a:xfrm>
            <a:off x="5120640" y="3113532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A0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 batch · ingest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7955280" y="3063240"/>
            <a:ext cx="0" cy="868680"/>
          </a:xfrm>
          <a:prstGeom prst="line">
            <a:avLst/>
          </a:prstGeom>
          <a:noFill/>
          <a:ln w="25400">
            <a:solidFill>
              <a:srgbClr val="38BDF8"/>
            </a:solidFill>
            <a:prstDash val="solid"/>
            <a:tailEnd type="triangle"/>
          </a:ln>
        </p:spPr>
      </p:sp>
      <p:sp>
        <p:nvSpPr>
          <p:cNvPr id="25" name="Text 23"/>
          <p:cNvSpPr/>
          <p:nvPr/>
        </p:nvSpPr>
        <p:spPr>
          <a:xfrm>
            <a:off x="7040880" y="3113532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A0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/control/output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10515600" y="3931920"/>
            <a:ext cx="-2286000" cy="-868680"/>
          </a:xfrm>
          <a:prstGeom prst="line">
            <a:avLst/>
          </a:prstGeom>
          <a:noFill/>
          <a:ln w="25400">
            <a:solidFill>
              <a:srgbClr val="38BDF8"/>
            </a:solidFill>
            <a:prstDash val="solid"/>
            <a:tailEnd type="triangle"/>
          </a:ln>
        </p:spPr>
      </p:sp>
      <p:sp>
        <p:nvSpPr>
          <p:cNvPr id="27" name="Text 25"/>
          <p:cNvSpPr/>
          <p:nvPr/>
        </p:nvSpPr>
        <p:spPr>
          <a:xfrm>
            <a:off x="8458200" y="3113532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A0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FC6 запись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02920" y="5806440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C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Единственный путь данных: станция → Modbus → edge → ingest → capd → экран. Расчётные теги calc_* идут через тот же контракт.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16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4630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92608"/>
            <a:ext cx="9692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6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Мнемосхема: процесс целиком на одном экране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9144000" y="347472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CA0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HMI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6400800"/>
            <a:ext cx="11183112" cy="0"/>
          </a:xfrm>
          <a:prstGeom prst="line">
            <a:avLst/>
          </a:prstGeom>
          <a:noFill/>
          <a:ln w="9525">
            <a:solidFill>
              <a:srgbClr val="2A3A4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A0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CAP · 4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485632" y="647395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A0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Complex Automation Pro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76656" y="1133856"/>
            <a:ext cx="7699248" cy="4616006"/>
          </a:xfrm>
          <a:prstGeom prst="rect">
            <a:avLst/>
          </a:prstGeom>
          <a:solidFill>
            <a:srgbClr val="1B2838"/>
          </a:solidFill>
          <a:ln w="12700">
            <a:solidFill>
              <a:srgbClr val="2A3A4E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188720"/>
            <a:ext cx="7589520" cy="450627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549640" y="1463040"/>
            <a:ext cx="315468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2000"/>
              </a:lnSpc>
              <a:spcAft>
                <a:spcPts val="900"/>
              </a:spcAft>
              <a:buSzPct val="100000"/>
              <a:buChar char="●"/>
            </a:pPr>
            <a:r>
              <a:rPr lang="en-US" sz="1250" dirty="0">
                <a:solidFill>
                  <a:srgbClr val="E6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Технологическая цепочка с живыми значениями: бункер → дробилка → мельница + гидроциклон → флотация → сгуститель → фильтр → отгрузка</a:t>
            </a:r>
            <a:endParaRPr lang="en-US" sz="1250" dirty="0"/>
          </a:p>
          <a:p>
            <a:pPr marL="177800" indent="-177800">
              <a:lnSpc>
                <a:spcPct val="112000"/>
              </a:lnSpc>
              <a:spcAft>
                <a:spcPts val="900"/>
              </a:spcAft>
              <a:buSzPct val="100000"/>
              <a:buChar char="●"/>
            </a:pPr>
            <a:r>
              <a:rPr lang="en-US" sz="1250" dirty="0">
                <a:solidFill>
                  <a:srgbClr val="E6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Цвет узла = состояние: норма / тревога / нет связи</a:t>
            </a:r>
            <a:endParaRPr lang="en-US" sz="1250" dirty="0"/>
          </a:p>
          <a:p>
            <a:pPr marL="177800" indent="-177800">
              <a:lnSpc>
                <a:spcPct val="112000"/>
              </a:lnSpc>
              <a:spcAft>
                <a:spcPts val="900"/>
              </a:spcAft>
              <a:buSzPct val="100000"/>
              <a:buChar char="●"/>
            </a:pPr>
            <a:r>
              <a:rPr lang="en-US" sz="1250" dirty="0">
                <a:solidFill>
                  <a:srgbClr val="E6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Клик по узлу — паспорт объекта, клик по метрике — тренд</a:t>
            </a:r>
            <a:endParaRPr lang="en-US" sz="1250" dirty="0"/>
          </a:p>
          <a:p>
            <a:pPr marL="177800" indent="-177800">
              <a:lnSpc>
                <a:spcPct val="112000"/>
              </a:lnSpc>
              <a:spcAft>
                <a:spcPts val="900"/>
              </a:spcAft>
              <a:buSzPct val="100000"/>
              <a:buChar char="●"/>
            </a:pPr>
            <a:r>
              <a:rPr lang="en-US" sz="1250" dirty="0">
                <a:solidFill>
                  <a:srgbClr val="E6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Обновление в реальном времени через WebSocket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16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4630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92608"/>
            <a:ext cx="9692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6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Тёмная тема дежурного пункта (ISA-101)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9144000" y="347472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CA0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HMI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6400800"/>
            <a:ext cx="11183112" cy="0"/>
          </a:xfrm>
          <a:prstGeom prst="line">
            <a:avLst/>
          </a:prstGeom>
          <a:noFill/>
          <a:ln w="9525">
            <a:solidFill>
              <a:srgbClr val="2A3A4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A0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CAP · 5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485632" y="647395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A0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Complex Automation Pro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76656" y="1133856"/>
            <a:ext cx="7699248" cy="4616006"/>
          </a:xfrm>
          <a:prstGeom prst="rect">
            <a:avLst/>
          </a:prstGeom>
          <a:solidFill>
            <a:srgbClr val="1B2838"/>
          </a:solidFill>
          <a:ln w="12700">
            <a:solidFill>
              <a:srgbClr val="2A3A4E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188720"/>
            <a:ext cx="7589520" cy="450627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549640" y="1463040"/>
            <a:ext cx="315468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2000"/>
              </a:lnSpc>
              <a:spcAft>
                <a:spcPts val="900"/>
              </a:spcAft>
              <a:buSzPct val="100000"/>
              <a:buChar char="●"/>
            </a:pPr>
            <a:r>
              <a:rPr lang="en-US" sz="1250" dirty="0">
                <a:solidFill>
                  <a:srgbClr val="E6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Приглушённая палитра — глаз оператора не «выгорает» за смену</a:t>
            </a:r>
            <a:endParaRPr lang="en-US" sz="1250" dirty="0"/>
          </a:p>
          <a:p>
            <a:pPr marL="177800" indent="-177800">
              <a:lnSpc>
                <a:spcPct val="112000"/>
              </a:lnSpc>
              <a:spcAft>
                <a:spcPts val="900"/>
              </a:spcAft>
              <a:buSzPct val="100000"/>
              <a:buChar char="●"/>
            </a:pPr>
            <a:r>
              <a:rPr lang="en-US" sz="1250" dirty="0">
                <a:solidFill>
                  <a:srgbClr val="E6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Цвет используется только для смысла: состояние и поток, не декор</a:t>
            </a:r>
            <a:endParaRPr lang="en-US" sz="1250" dirty="0"/>
          </a:p>
          <a:p>
            <a:pPr marL="177800" indent="-177800">
              <a:lnSpc>
                <a:spcPct val="112000"/>
              </a:lnSpc>
              <a:spcAft>
                <a:spcPts val="900"/>
              </a:spcAft>
              <a:buSzPct val="100000"/>
              <a:buChar char="●"/>
            </a:pPr>
            <a:r>
              <a:rPr lang="en-US" sz="1250" dirty="0">
                <a:solidFill>
                  <a:srgbClr val="E6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Обе темы работают на всех страницах без исключений</a:t>
            </a:r>
            <a:endParaRPr lang="en-US" sz="1250" dirty="0"/>
          </a:p>
          <a:p>
            <a:pPr marL="177800" indent="-177800">
              <a:lnSpc>
                <a:spcPct val="112000"/>
              </a:lnSpc>
              <a:spcAft>
                <a:spcPts val="900"/>
              </a:spcAft>
              <a:buSzPct val="100000"/>
              <a:buChar char="●"/>
            </a:pPr>
            <a:r>
              <a:rPr lang="en-US" sz="1250" dirty="0">
                <a:solidFill>
                  <a:srgbClr val="E6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Системные шрифты — работа в закрытом контуре (air-gap), без CDN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16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4630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92608"/>
            <a:ext cx="9692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6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Данные: реальный протокол и честная надёжность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9144000" y="347472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CA0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платформа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6400800"/>
            <a:ext cx="11183112" cy="0"/>
          </a:xfrm>
          <a:prstGeom prst="line">
            <a:avLst/>
          </a:prstGeom>
          <a:noFill/>
          <a:ln w="9525">
            <a:solidFill>
              <a:srgbClr val="2A3A4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A0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CAP · 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485632" y="647395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A0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Complex Automation Pro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02920" y="1371600"/>
            <a:ext cx="2713482" cy="841248"/>
          </a:xfrm>
          <a:prstGeom prst="roundRect">
            <a:avLst>
              <a:gd name="adj" fmla="val 5435"/>
            </a:avLst>
          </a:prstGeom>
          <a:solidFill>
            <a:srgbClr val="16202E"/>
          </a:solidFill>
          <a:ln w="12700">
            <a:solidFill>
              <a:srgbClr val="2A3A4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444752"/>
            <a:ext cx="2713482" cy="4374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 + 7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502920" y="1842699"/>
            <a:ext cx="2713482" cy="3364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датчиков и актуаторов в карте регистров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326130" y="1371600"/>
            <a:ext cx="2713482" cy="841248"/>
          </a:xfrm>
          <a:prstGeom prst="roundRect">
            <a:avLst>
              <a:gd name="adj" fmla="val 5435"/>
            </a:avLst>
          </a:prstGeom>
          <a:solidFill>
            <a:srgbClr val="16202E"/>
          </a:solidFill>
          <a:ln w="12700">
            <a:solidFill>
              <a:srgbClr val="2A3A4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26130" y="1444752"/>
            <a:ext cx="2713482" cy="4374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с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326130" y="1842699"/>
            <a:ext cx="2713482" cy="3364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период опроса и шаг историка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149340" y="1371600"/>
            <a:ext cx="2713482" cy="841248"/>
          </a:xfrm>
          <a:prstGeom prst="roundRect">
            <a:avLst>
              <a:gd name="adj" fmla="val 5435"/>
            </a:avLst>
          </a:prstGeom>
          <a:solidFill>
            <a:srgbClr val="16202E"/>
          </a:solidFill>
          <a:ln w="12700">
            <a:solidFill>
              <a:srgbClr val="2A3A4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49340" y="1444752"/>
            <a:ext cx="2713482" cy="4374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сут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149340" y="1842699"/>
            <a:ext cx="2713482" cy="3364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глубина историка при SQLite WAL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972550" y="1371600"/>
            <a:ext cx="2713482" cy="841248"/>
          </a:xfrm>
          <a:prstGeom prst="roundRect">
            <a:avLst>
              <a:gd name="adj" fmla="val 5435"/>
            </a:avLst>
          </a:prstGeom>
          <a:solidFill>
            <a:srgbClr val="16202E"/>
          </a:solidFill>
          <a:ln w="12700">
            <a:solidFill>
              <a:srgbClr val="2A3A4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972550" y="1444752"/>
            <a:ext cx="2713482" cy="4374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8972550" y="1842699"/>
            <a:ext cx="2713482" cy="3364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дублей после обрыва — идемпотентная доставка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02920" y="2697480"/>
            <a:ext cx="1115568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E6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Карта регистров Modbus (FC3/FC4/FC6) — контракт со станцией: адрес, масштаб, шкала инженерных единиц для каждого тега.</a:t>
            </a:r>
            <a:endParaRPr lang="en-US" sz="150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E6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Обрыв связи станция ↔ шлюз: качество offline, разрыв линии на тренде — фиктивных значений нет.</a:t>
            </a:r>
            <a:endParaRPr lang="en-US" sz="150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E6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Обрыв шлюз ↔ сервер: буфер SQLite store-and-forward, после восстановления — полная досылка без дублей и потери порядка.</a:t>
            </a:r>
            <a:endParaRPr lang="en-US" sz="150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E6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Актуаторы при потере сервера удерживают последние значения, а не сбрасываются в ноль (инстинкт IEC 61511).</a:t>
            </a:r>
            <a:endParaRPr lang="en-US" sz="150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E6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Выгрузки CSV за период — отчётность без ручного копирования.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16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4630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92608"/>
            <a:ext cx="9692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6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Металлургия: баланс, который можно проверить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9144000" y="347472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CA0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расчёты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6400800"/>
            <a:ext cx="11183112" cy="0"/>
          </a:xfrm>
          <a:prstGeom prst="line">
            <a:avLst/>
          </a:prstGeom>
          <a:noFill/>
          <a:ln w="9525">
            <a:solidFill>
              <a:srgbClr val="2A3A4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A0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CAP · 7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485632" y="647395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A0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Complex Automation Pro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76656" y="1271016"/>
            <a:ext cx="7699248" cy="4616006"/>
          </a:xfrm>
          <a:prstGeom prst="rect">
            <a:avLst/>
          </a:prstGeom>
          <a:solidFill>
            <a:srgbClr val="1B2838"/>
          </a:solidFill>
          <a:ln w="12700">
            <a:solidFill>
              <a:srgbClr val="2A3A4E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325880"/>
            <a:ext cx="7589520" cy="450627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549640" y="1554480"/>
            <a:ext cx="315468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2000"/>
              </a:lnSpc>
              <a:spcAft>
                <a:spcPts val="900"/>
              </a:spcAft>
              <a:buSzPct val="100000"/>
              <a:buChar char="●"/>
            </a:pPr>
            <a:r>
              <a:rPr lang="en-US" sz="1250" dirty="0">
                <a:solidFill>
                  <a:srgbClr val="E6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ε ≈ 88–90 % в номинале — и формула на карточке: ε = β(α−θ)/(α(β−θ))×100</a:t>
            </a:r>
            <a:endParaRPr lang="en-US" sz="1250" dirty="0"/>
          </a:p>
          <a:p>
            <a:pPr marL="177800" indent="-177800">
              <a:lnSpc>
                <a:spcPct val="112000"/>
              </a:lnSpc>
              <a:spcAft>
                <a:spcPts val="900"/>
              </a:spcAft>
              <a:buSzPct val="100000"/>
              <a:buChar char="●"/>
            </a:pPr>
            <a:r>
              <a:rPr lang="en-US" sz="1250" dirty="0">
                <a:solidFill>
                  <a:srgbClr val="E6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Невязка баланса ≤ ±1 %, иначе — предупреждение «проверь XRF/весы»</a:t>
            </a:r>
            <a:endParaRPr lang="en-US" sz="1250" dirty="0"/>
          </a:p>
          <a:p>
            <a:pPr marL="177800" indent="-177800">
              <a:lnSpc>
                <a:spcPct val="112000"/>
              </a:lnSpc>
              <a:spcAft>
                <a:spcPts val="900"/>
              </a:spcAft>
              <a:buSzPct val="100000"/>
              <a:buChar char="●"/>
            </a:pPr>
            <a:r>
              <a:rPr lang="en-US" sz="1250" dirty="0">
                <a:solidFill>
                  <a:srgbClr val="E6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Энергия Бонда, КПД мельницы, циркулирующая нагрузка, удельные расходы</a:t>
            </a:r>
            <a:endParaRPr lang="en-US" sz="1250" dirty="0"/>
          </a:p>
          <a:p>
            <a:pPr marL="177800" indent="-177800">
              <a:lnSpc>
                <a:spcPct val="112000"/>
              </a:lnSpc>
              <a:spcAft>
                <a:spcPts val="900"/>
              </a:spcAft>
              <a:buSzPct val="100000"/>
              <a:buChar char="●"/>
            </a:pPr>
            <a:r>
              <a:rPr lang="en-US" sz="1250" dirty="0">
                <a:solidFill>
                  <a:srgbClr val="E6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Источники каждого показателя указаны — расчёт аудируется</a:t>
            </a:r>
            <a:endParaRPr lang="en-US" sz="1250" dirty="0"/>
          </a:p>
          <a:p>
            <a:pPr marL="177800" indent="-177800">
              <a:lnSpc>
                <a:spcPct val="112000"/>
              </a:lnSpc>
              <a:spcAft>
                <a:spcPts val="900"/>
              </a:spcAft>
              <a:buSzPct val="100000"/>
              <a:buChar char="●"/>
            </a:pPr>
            <a:r>
              <a:rPr lang="en-US" sz="1250" dirty="0">
                <a:solidFill>
                  <a:srgbClr val="E6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Целевые коридоры — из активного профиля руды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16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4630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92608"/>
            <a:ext cx="9692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6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Управление: супервизорные ПИД-контуры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9144000" y="347472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CA0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управление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6400800"/>
            <a:ext cx="11183112" cy="0"/>
          </a:xfrm>
          <a:prstGeom prst="line">
            <a:avLst/>
          </a:prstGeom>
          <a:noFill/>
          <a:ln w="9525">
            <a:solidFill>
              <a:srgbClr val="2A3A4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A0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CAP · 8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485632" y="647395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A0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Complex Automation Pro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76656" y="1271016"/>
            <a:ext cx="7699248" cy="4616006"/>
          </a:xfrm>
          <a:prstGeom prst="rect">
            <a:avLst/>
          </a:prstGeom>
          <a:solidFill>
            <a:srgbClr val="1B2838"/>
          </a:solidFill>
          <a:ln w="12700">
            <a:solidFill>
              <a:srgbClr val="2A3A4E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325880"/>
            <a:ext cx="7589520" cy="450627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549640" y="1554480"/>
            <a:ext cx="315468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2000"/>
              </a:lnSpc>
              <a:spcAft>
                <a:spcPts val="900"/>
              </a:spcAft>
              <a:buSzPct val="100000"/>
              <a:buChar char="●"/>
            </a:pPr>
            <a:r>
              <a:rPr lang="en-US" sz="1250" dirty="0">
                <a:solidFill>
                  <a:srgbClr val="E6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Три контура: уровень флотомашины lic301, расход собирателя fic301, плотность сгущения dic401</a:t>
            </a:r>
            <a:endParaRPr lang="en-US" sz="1250" dirty="0"/>
          </a:p>
          <a:p>
            <a:pPr marL="177800" indent="-177800">
              <a:lnSpc>
                <a:spcPct val="112000"/>
              </a:lnSpc>
              <a:spcAft>
                <a:spcPts val="900"/>
              </a:spcAft>
              <a:buSzPct val="100000"/>
              <a:buChar char="●"/>
            </a:pPr>
            <a:r>
              <a:rPr lang="en-US" sz="1250" dirty="0">
                <a:solidFill>
                  <a:srgbClr val="E6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Режимы АВТО/РУЧН; любая запись — с подтверждением и записью в аудит</a:t>
            </a:r>
            <a:endParaRPr lang="en-US" sz="1250" dirty="0"/>
          </a:p>
          <a:p>
            <a:pPr marL="177800" indent="-177800">
              <a:lnSpc>
                <a:spcPct val="112000"/>
              </a:lnSpc>
              <a:spcAft>
                <a:spcPts val="900"/>
              </a:spcAft>
              <a:buSzPct val="100000"/>
              <a:buChar char="●"/>
            </a:pPr>
            <a:r>
              <a:rPr lang="en-US" sz="1250" dirty="0">
                <a:solidFill>
                  <a:srgbClr val="E6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Безбамперный переход в АВТО — от фактической позиции актуатора</a:t>
            </a:r>
            <a:endParaRPr lang="en-US" sz="1250" dirty="0"/>
          </a:p>
          <a:p>
            <a:pPr marL="177800" indent="-177800">
              <a:lnSpc>
                <a:spcPct val="112000"/>
              </a:lnSpc>
              <a:spcAft>
                <a:spcPts val="900"/>
              </a:spcAft>
              <a:buSzPct val="100000"/>
              <a:buChar char="●"/>
            </a:pPr>
            <a:r>
              <a:rPr lang="en-US" sz="1250" dirty="0">
                <a:solidFill>
                  <a:srgbClr val="E6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Watchdog 10 с: нет достоверного PV → РУЧН, выход заморожен, тревога</a:t>
            </a:r>
            <a:endParaRPr lang="en-US" sz="1250" dirty="0"/>
          </a:p>
          <a:p>
            <a:pPr marL="177800" indent="-177800">
              <a:lnSpc>
                <a:spcPct val="112000"/>
              </a:lnSpc>
              <a:spcAft>
                <a:spcPts val="900"/>
              </a:spcAft>
              <a:buSzPct val="100000"/>
              <a:buChar char="●"/>
            </a:pPr>
            <a:r>
              <a:rPr lang="en-US" sz="1250" dirty="0">
                <a:solidFill>
                  <a:srgbClr val="E6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станцию пишет только шлюз (FC6) и только в АВТО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E16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4630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92608"/>
            <a:ext cx="9692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6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Тревоги по ISA-18.2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9144000" y="347472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CA0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тревоги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6400800"/>
            <a:ext cx="11183112" cy="0"/>
          </a:xfrm>
          <a:prstGeom prst="line">
            <a:avLst/>
          </a:prstGeom>
          <a:noFill/>
          <a:ln w="9525">
            <a:solidFill>
              <a:srgbClr val="2A3A4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A0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CAP · 9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485632" y="647395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A0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Complex Automation Pro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76656" y="1271016"/>
            <a:ext cx="7699248" cy="4616006"/>
          </a:xfrm>
          <a:prstGeom prst="rect">
            <a:avLst/>
          </a:prstGeom>
          <a:solidFill>
            <a:srgbClr val="1B2838"/>
          </a:solidFill>
          <a:ln w="12700">
            <a:solidFill>
              <a:srgbClr val="2A3A4E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325880"/>
            <a:ext cx="7589520" cy="450627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549640" y="1554480"/>
            <a:ext cx="315468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2000"/>
              </a:lnSpc>
              <a:spcAft>
                <a:spcPts val="900"/>
              </a:spcAft>
              <a:buSzPct val="100000"/>
              <a:buChar char="●"/>
            </a:pPr>
            <a:r>
              <a:rPr lang="en-US" sz="1250" dirty="0">
                <a:solidFill>
                  <a:srgbClr val="E6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Рационализированные уставки: lo_lo / lo / hi / hi_hi с приоритетами</a:t>
            </a:r>
            <a:endParaRPr lang="en-US" sz="1250" dirty="0"/>
          </a:p>
          <a:p>
            <a:pPr marL="177800" indent="-177800">
              <a:lnSpc>
                <a:spcPct val="112000"/>
              </a:lnSpc>
              <a:spcAft>
                <a:spcPts val="900"/>
              </a:spcAft>
              <a:buSzPct val="100000"/>
              <a:buChar char="●"/>
            </a:pPr>
            <a:r>
              <a:rPr lang="en-US" sz="1250" dirty="0">
                <a:solidFill>
                  <a:srgbClr val="E6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Задержка 3 с (критические) и 10 с, гистерезис 1 % шкалы — без «дребезга»</a:t>
            </a:r>
            <a:endParaRPr lang="en-US" sz="1250" dirty="0"/>
          </a:p>
          <a:p>
            <a:pPr marL="177800" indent="-177800">
              <a:lnSpc>
                <a:spcPct val="112000"/>
              </a:lnSpc>
              <a:spcAft>
                <a:spcPts val="900"/>
              </a:spcAft>
              <a:buSzPct val="100000"/>
              <a:buChar char="●"/>
            </a:pPr>
            <a:r>
              <a:rPr lang="en-US" sz="1250" dirty="0">
                <a:solidFill>
                  <a:srgbClr val="E6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Квитирование от имени оператора (из сессии) + комментарий</a:t>
            </a:r>
            <a:endParaRPr lang="en-US" sz="1250" dirty="0"/>
          </a:p>
          <a:p>
            <a:pPr marL="177800" indent="-177800">
              <a:lnSpc>
                <a:spcPct val="112000"/>
              </a:lnSpc>
              <a:spcAft>
                <a:spcPts val="900"/>
              </a:spcAft>
              <a:buSzPct val="100000"/>
              <a:buChar char="●"/>
            </a:pPr>
            <a:r>
              <a:rPr lang="en-US" sz="1250" dirty="0">
                <a:solidFill>
                  <a:srgbClr val="E6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Неизменяемый журнал: сработала / сброшена / квитирована</a:t>
            </a:r>
            <a:endParaRPr lang="en-US" sz="1250" dirty="0"/>
          </a:p>
          <a:p>
            <a:pPr marL="177800" indent="-177800">
              <a:lnSpc>
                <a:spcPct val="112000"/>
              </a:lnSpc>
              <a:spcAft>
                <a:spcPts val="900"/>
              </a:spcAft>
              <a:buSzPct val="100000"/>
              <a:buChar char="●"/>
            </a:pPr>
            <a:r>
              <a:rPr lang="en-US" sz="1250" dirty="0">
                <a:solidFill>
                  <a:srgbClr val="E6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comm_loss по активу при потере данных &gt; 10 с; критическая тревога — баннер на всех страницах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16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4630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92608"/>
            <a:ext cx="9692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6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Паспорт объекта: всё по узлу — в одном окне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9144000" y="347472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CA0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HMI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6400800"/>
            <a:ext cx="11183112" cy="0"/>
          </a:xfrm>
          <a:prstGeom prst="line">
            <a:avLst/>
          </a:prstGeom>
          <a:noFill/>
          <a:ln w="9525">
            <a:solidFill>
              <a:srgbClr val="2A3A4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A0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CAP · 10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485632" y="647395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A0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Complex Automation Pro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76656" y="1271016"/>
            <a:ext cx="7699248" cy="4616006"/>
          </a:xfrm>
          <a:prstGeom prst="rect">
            <a:avLst/>
          </a:prstGeom>
          <a:solidFill>
            <a:srgbClr val="1B2838"/>
          </a:solidFill>
          <a:ln w="12700">
            <a:solidFill>
              <a:srgbClr val="2A3A4E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325880"/>
            <a:ext cx="7589520" cy="450627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549640" y="1554480"/>
            <a:ext cx="315468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2000"/>
              </a:lnSpc>
              <a:spcAft>
                <a:spcPts val="900"/>
              </a:spcAft>
              <a:buSzPct val="100000"/>
              <a:buChar char="●"/>
            </a:pPr>
            <a:r>
              <a:rPr lang="en-US" sz="1250" dirty="0">
                <a:solidFill>
                  <a:srgbClr val="E6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Клик по узлу мнемосхемы — модальный паспорт объекта</a:t>
            </a:r>
            <a:endParaRPr lang="en-US" sz="1250" dirty="0"/>
          </a:p>
          <a:p>
            <a:pPr marL="177800" indent="-177800">
              <a:lnSpc>
                <a:spcPct val="112000"/>
              </a:lnSpc>
              <a:spcAft>
                <a:spcPts val="900"/>
              </a:spcAft>
              <a:buSzPct val="100000"/>
              <a:buChar char="●"/>
            </a:pPr>
            <a:r>
              <a:rPr lang="en-US" sz="1250" dirty="0">
                <a:solidFill>
                  <a:srgbClr val="E6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Все параметры узла с качеством каждого значения (good / offline)</a:t>
            </a:r>
            <a:endParaRPr lang="en-US" sz="1250" dirty="0"/>
          </a:p>
          <a:p>
            <a:pPr marL="177800" indent="-177800">
              <a:lnSpc>
                <a:spcPct val="112000"/>
              </a:lnSpc>
              <a:spcAft>
                <a:spcPts val="900"/>
              </a:spcAft>
              <a:buSzPct val="100000"/>
              <a:buChar char="●"/>
            </a:pPr>
            <a:r>
              <a:rPr lang="en-US" sz="1250" dirty="0">
                <a:solidFill>
                  <a:srgbClr val="E6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Панели контуров узла: PV / SP / MV, полоса положения, кнопки с подтверждением</a:t>
            </a:r>
            <a:endParaRPr lang="en-US" sz="1250" dirty="0"/>
          </a:p>
          <a:p>
            <a:pPr marL="177800" indent="-177800">
              <a:lnSpc>
                <a:spcPct val="112000"/>
              </a:lnSpc>
              <a:spcAft>
                <a:spcPts val="900"/>
              </a:spcAft>
              <a:buSzPct val="100000"/>
              <a:buChar char="●"/>
            </a:pPr>
            <a:r>
              <a:rPr lang="en-US" sz="1250" dirty="0">
                <a:solidFill>
                  <a:srgbClr val="E6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Уставки сигнализации — в разделе «Тревоги» (ISA-18.2)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E16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4630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92608"/>
            <a:ext cx="9692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6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Безопасность и подотчётность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9144000" y="347472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CA0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платформа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6400800"/>
            <a:ext cx="11183112" cy="0"/>
          </a:xfrm>
          <a:prstGeom prst="line">
            <a:avLst/>
          </a:prstGeom>
          <a:noFill/>
          <a:ln w="9525">
            <a:solidFill>
              <a:srgbClr val="2A3A4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A0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CAP · 11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485632" y="647395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A0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Complex Automation Pro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02920" y="1325880"/>
            <a:ext cx="11183112" cy="932688"/>
          </a:xfrm>
          <a:prstGeom prst="roundRect">
            <a:avLst>
              <a:gd name="adj" fmla="val 4902"/>
            </a:avLst>
          </a:prstGeom>
          <a:solidFill>
            <a:srgbClr val="16202E"/>
          </a:solidFill>
          <a:ln w="12700">
            <a:solidFill>
              <a:srgbClr val="2A3A4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408176"/>
            <a:ext cx="310896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Аутентификация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023360" y="1408176"/>
            <a:ext cx="749808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6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Локальные учётные записи (PBKDF2-SHA256), серверные сессии в HttpOnly-cookie на 12 ч, выход по кнопке.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02920" y="2395728"/>
            <a:ext cx="11183112" cy="932688"/>
          </a:xfrm>
          <a:prstGeom prst="roundRect">
            <a:avLst>
              <a:gd name="adj" fmla="val 4902"/>
            </a:avLst>
          </a:prstGeom>
          <a:solidFill>
            <a:srgbClr val="16202E"/>
          </a:solidFill>
          <a:ln w="12700">
            <a:solidFill>
              <a:srgbClr val="2A3A4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2478024"/>
            <a:ext cx="310896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Роли (RBAC)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023360" y="2478024"/>
            <a:ext cx="749808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6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Оператор: квитирование, уставки, сценарии. Администратор: реестр, доступ, аудит. Права проверяются на API.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02920" y="3465576"/>
            <a:ext cx="11183112" cy="932688"/>
          </a:xfrm>
          <a:prstGeom prst="roundRect">
            <a:avLst>
              <a:gd name="adj" fmla="val 4902"/>
            </a:avLst>
          </a:prstGeom>
          <a:solidFill>
            <a:srgbClr val="16202E"/>
          </a:solidFill>
          <a:ln w="12700">
            <a:solidFill>
              <a:srgbClr val="2A3A4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3547872"/>
            <a:ext cx="310896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Аудит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023360" y="3547872"/>
            <a:ext cx="749808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6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Каждая мутация — с субъектом из сессии и меткой времени; команды управления только с явным подтверждением.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02920" y="4535424"/>
            <a:ext cx="11183112" cy="932688"/>
          </a:xfrm>
          <a:prstGeom prst="roundRect">
            <a:avLst>
              <a:gd name="adj" fmla="val 4902"/>
            </a:avLst>
          </a:prstGeom>
          <a:solidFill>
            <a:srgbClr val="16202E"/>
          </a:solidFill>
          <a:ln w="12700">
            <a:solidFill>
              <a:srgbClr val="2A3A4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4617720"/>
            <a:ext cx="310896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Машины и человек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023360" y="4617720"/>
            <a:ext cx="749808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6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Шлюзы аутентифицируются отдельным секретом GATEWAY_TOKEN; пользовательские сессии и устройства разделены.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02920" y="5605272"/>
            <a:ext cx="11183112" cy="932688"/>
          </a:xfrm>
          <a:prstGeom prst="roundRect">
            <a:avLst>
              <a:gd name="adj" fmla="val 4902"/>
            </a:avLst>
          </a:prstGeom>
          <a:solidFill>
            <a:srgbClr val="16202E"/>
          </a:solidFill>
          <a:ln w="12700">
            <a:solidFill>
              <a:srgbClr val="2A3A4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5687568"/>
            <a:ext cx="310896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Граница безопасности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023360" y="5687568"/>
            <a:ext cx="749808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6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Супервизорный контур не заменяет противоаварийную защиту: при потере данных воздействие замораживается (IEC 61511).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E16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4630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92608"/>
            <a:ext cx="9692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6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Демонстрация: 15 минут, 7 эпизодов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9144000" y="347472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CA0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сценарий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6400800"/>
            <a:ext cx="11183112" cy="0"/>
          </a:xfrm>
          <a:prstGeom prst="line">
            <a:avLst/>
          </a:prstGeom>
          <a:noFill/>
          <a:ln w="9525">
            <a:solidFill>
              <a:srgbClr val="2A3A4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A0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CAP · 12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485632" y="647395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A0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Complex Automation Pro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66928" y="1353312"/>
            <a:ext cx="457200" cy="457200"/>
          </a:xfrm>
          <a:prstGeom prst="ellipse">
            <a:avLst/>
          </a:prstGeom>
          <a:solidFill>
            <a:srgbClr val="1B2838"/>
          </a:solidFill>
          <a:ln w="15875">
            <a:solidFill>
              <a:srgbClr val="38BD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13533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34440" y="1280160"/>
            <a:ext cx="104241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6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Нормальный режим   </a:t>
            </a:r>
            <a:pPr indent="0" marL="0">
              <a:buNone/>
            </a:pPr>
            <a:r>
              <a:rPr lang="en-US" sz="1350" dirty="0">
                <a:solidFill>
                  <a:srgbClr val="8C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баланс сходится, ε ≈ 90 %, тренды живые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66928" y="2011680"/>
            <a:ext cx="457200" cy="457200"/>
          </a:xfrm>
          <a:prstGeom prst="ellipse">
            <a:avLst/>
          </a:prstGeom>
          <a:solidFill>
            <a:srgbClr val="1B2838"/>
          </a:solidFill>
          <a:ln w="15875">
            <a:solidFill>
              <a:srgbClr val="38BDF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2011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34440" y="1938528"/>
            <a:ext cx="104241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6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Контур в АВТО   </a:t>
            </a:r>
            <a:pPr indent="0" marL="0">
              <a:buNone/>
            </a:pPr>
            <a:r>
              <a:rPr lang="en-US" sz="1350" dirty="0">
                <a:solidFill>
                  <a:srgbClr val="8C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 500→550 мм: задвижка отрабатывает, уровень выходит на уставку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66928" y="2670048"/>
            <a:ext cx="457200" cy="457200"/>
          </a:xfrm>
          <a:prstGeom prst="ellipse">
            <a:avLst/>
          </a:prstGeom>
          <a:solidFill>
            <a:srgbClr val="1B2838"/>
          </a:solidFill>
          <a:ln w="15875">
            <a:solidFill>
              <a:srgbClr val="38BDF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" y="26700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234440" y="2596896"/>
            <a:ext cx="104241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6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Возмущение по руде   </a:t>
            </a:r>
            <a:pPr indent="0" marL="0">
              <a:buNone/>
            </a:pPr>
            <a:r>
              <a:rPr lang="en-US" sz="1350" dirty="0">
                <a:solidFill>
                  <a:srgbClr val="8C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крепче руда → P80 растёт → ε падает → тревога по хвостам; оператор: вода мельницы + расход собирателя → ε восстановлено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566928" y="3328416"/>
            <a:ext cx="457200" cy="457200"/>
          </a:xfrm>
          <a:prstGeom prst="ellipse">
            <a:avLst/>
          </a:prstGeom>
          <a:solidFill>
            <a:srgbClr val="1B2838"/>
          </a:solidFill>
          <a:ln w="15875">
            <a:solidFill>
              <a:srgbClr val="38BDF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" y="332841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234440" y="3255264"/>
            <a:ext cx="104241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6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Обрыв связи   </a:t>
            </a:r>
            <a:pPr indent="0" marL="0">
              <a:buNone/>
            </a:pPr>
            <a:r>
              <a:rPr lang="en-US" sz="1350" dirty="0">
                <a:solidFill>
                  <a:srgbClr val="8C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offline и разрывы трендов → восстановление; буфер шлюза досылает всё без дублей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66928" y="3986784"/>
            <a:ext cx="457200" cy="457200"/>
          </a:xfrm>
          <a:prstGeom prst="ellipse">
            <a:avLst/>
          </a:prstGeom>
          <a:solidFill>
            <a:srgbClr val="1B2838"/>
          </a:solidFill>
          <a:ln w="15875">
            <a:solidFill>
              <a:srgbClr val="38BDF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928" y="398678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234440" y="3913632"/>
            <a:ext cx="104241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6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Отказ насоса сгустителя   </a:t>
            </a:r>
            <a:pPr indent="0" marL="0">
              <a:buNone/>
            </a:pPr>
            <a:r>
              <a:rPr lang="en-US" sz="1350" dirty="0">
                <a:solidFill>
                  <a:srgbClr val="8C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постель и момент растут → hi_hi; оператор берёт контур в РУЧН → тревоги очищаются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566928" y="4645152"/>
            <a:ext cx="457200" cy="457200"/>
          </a:xfrm>
          <a:prstGeom prst="ellipse">
            <a:avLst/>
          </a:prstGeom>
          <a:solidFill>
            <a:srgbClr val="1B2838"/>
          </a:solidFill>
          <a:ln w="15875">
            <a:solidFill>
              <a:srgbClr val="38BDF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66928" y="46451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234440" y="4572000"/>
            <a:ext cx="104241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6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Дрейф XRF   </a:t>
            </a:r>
            <a:pPr indent="0" marL="0">
              <a:buNone/>
            </a:pPr>
            <a:r>
              <a:rPr lang="en-US" sz="1350" dirty="0">
                <a:solidFill>
                  <a:srgbClr val="8C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невязка уходит в предупреждение — встроенный детектор несогласованности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566928" y="5303520"/>
            <a:ext cx="457200" cy="457200"/>
          </a:xfrm>
          <a:prstGeom prst="ellipse">
            <a:avLst/>
          </a:prstGeom>
          <a:solidFill>
            <a:srgbClr val="1B2838"/>
          </a:solidFill>
          <a:ln w="15875">
            <a:solidFill>
              <a:srgbClr val="38BDF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5303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234440" y="5230368"/>
            <a:ext cx="104241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6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Отчёты   </a:t>
            </a:r>
            <a:pPr indent="0" marL="0">
              <a:buNone/>
            </a:pPr>
            <a:r>
              <a:rPr lang="en-US" sz="1350" dirty="0">
                <a:solidFill>
                  <a:srgbClr val="8C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выгрузка показаний и тревог в CSV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E16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4630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92608"/>
            <a:ext cx="9692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6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Характеристики и статус проекта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9144000" y="347472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CA0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итоги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6400800"/>
            <a:ext cx="11183112" cy="0"/>
          </a:xfrm>
          <a:prstGeom prst="line">
            <a:avLst/>
          </a:prstGeom>
          <a:noFill/>
          <a:ln w="9525">
            <a:solidFill>
              <a:srgbClr val="2A3A4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A0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CAP · 13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485632" y="647395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A0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Complex Automation Pro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02920" y="1325880"/>
            <a:ext cx="2713482" cy="841248"/>
          </a:xfrm>
          <a:prstGeom prst="roundRect">
            <a:avLst>
              <a:gd name="adj" fmla="val 5435"/>
            </a:avLst>
          </a:prstGeom>
          <a:solidFill>
            <a:srgbClr val="16202E"/>
          </a:solidFill>
          <a:ln w="12700">
            <a:solidFill>
              <a:srgbClr val="2A3A4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399032"/>
            <a:ext cx="2713482" cy="4374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≤ 2 с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502920" y="1796979"/>
            <a:ext cx="2713482" cy="3364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датчик → экран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326130" y="1325880"/>
            <a:ext cx="2713482" cy="841248"/>
          </a:xfrm>
          <a:prstGeom prst="roundRect">
            <a:avLst>
              <a:gd name="adj" fmla="val 5435"/>
            </a:avLst>
          </a:prstGeom>
          <a:solidFill>
            <a:srgbClr val="16202E"/>
          </a:solidFill>
          <a:ln w="12700">
            <a:solidFill>
              <a:srgbClr val="2A3A4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26130" y="1399032"/>
            <a:ext cx="2713482" cy="4374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≥ 100/с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3326130" y="1796979"/>
            <a:ext cx="2713482" cy="3364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поток значений в приёме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149340" y="1325880"/>
            <a:ext cx="2713482" cy="841248"/>
          </a:xfrm>
          <a:prstGeom prst="roundRect">
            <a:avLst>
              <a:gd name="adj" fmla="val 5435"/>
            </a:avLst>
          </a:prstGeom>
          <a:solidFill>
            <a:srgbClr val="16202E"/>
          </a:solidFill>
          <a:ln w="12700">
            <a:solidFill>
              <a:srgbClr val="2A3A4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49340" y="1399032"/>
            <a:ext cx="2713482" cy="4374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≤ 200 МБ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6149340" y="1796979"/>
            <a:ext cx="2713482" cy="3364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память сервера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972550" y="1325880"/>
            <a:ext cx="2713482" cy="841248"/>
          </a:xfrm>
          <a:prstGeom prst="roundRect">
            <a:avLst>
              <a:gd name="adj" fmla="val 5435"/>
            </a:avLst>
          </a:prstGeom>
          <a:solidFill>
            <a:srgbClr val="16202E"/>
          </a:solidFill>
          <a:ln w="12700">
            <a:solidFill>
              <a:srgbClr val="2A3A4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972550" y="1399032"/>
            <a:ext cx="2713482" cy="4374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≤ 30 с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8972550" y="1796979"/>
            <a:ext cx="2713482" cy="3364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холодный старт демо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02920" y="2514600"/>
            <a:ext cx="1115568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Готово сегодня</a:t>
            </a:r>
            <a:endParaRPr lang="en-US" sz="17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E6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Сбор, историк, металлургия, три контура управления, тревоги ISA-18.2, полный HMI, RBAC и аудит, демо-скрипт — приёмочные тесты зелёные (go test, сборка фронтенда).</a:t>
            </a:r>
            <a:endParaRPr lang="en-US" sz="1700" dirty="0"/>
          </a:p>
          <a:p>
            <a:pPr indent="0" marL="0">
              <a:lnSpc>
                <a:spcPct val="112000"/>
              </a:lnSpc>
              <a:buNone/>
            </a:pPr>
            <a:endParaRPr lang="en-US" sz="17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7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Осознанные границы MVP</a:t>
            </a:r>
            <a:endParaRPr lang="en-US" sz="17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E6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Один узел без кластеризации · локальная аутентификация (OIDC/LDAP — далее) · без downsampling историка · Modbus TCP в демо-контуре (OPC UA/Sparkplug — в коде шлюза).</a:t>
            </a:r>
            <a:endParaRPr lang="en-US" sz="1700" dirty="0"/>
          </a:p>
          <a:p>
            <a:pPr indent="0" marL="0">
              <a:lnSpc>
                <a:spcPct val="112000"/>
              </a:lnSpc>
              <a:buNone/>
            </a:pPr>
            <a:endParaRPr lang="en-US" sz="17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Следующие шаги</a:t>
            </a:r>
            <a:endParaRPr lang="en-US" sz="17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E6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Пилот на реальном контроллере → PostgreSQL и резервирование → нагрузочные испытания → подключение OPC UA.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CAP — АСУ ТП участка флотационного обогащения руды</dc:title>
  <dc:subject>PptxGenJS Presentation</dc:subject>
  <dc:creator>CAP</dc:creator>
  <cp:lastModifiedBy>CAP</cp:lastModifiedBy>
  <cp:revision>1</cp:revision>
  <dcterms:created xsi:type="dcterms:W3CDTF">2026-09-11T08:36:00Z</dcterms:created>
  <dcterms:modified xsi:type="dcterms:W3CDTF">2026-09-11T08:36:00Z</dcterms:modified>
</cp:coreProperties>
</file>
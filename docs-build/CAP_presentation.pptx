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554480"/>
            <a:ext cx="341986" cy="0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4906" y="1554480"/>
            <a:ext cx="186538" cy="-652882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1443" y="901598"/>
            <a:ext cx="248717" cy="1212494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2114093"/>
            <a:ext cx="186538" cy="-839419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6698" y="1274674"/>
            <a:ext cx="248717" cy="279806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15414" y="1554480"/>
            <a:ext cx="341986" cy="0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48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400" kern="0" dirty="0">
                <a:solidFill>
                  <a:srgbClr val="5C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AUTOMATION PRO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6344" y="2468880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</a:t>
            </a:r>
            <a:endParaRPr lang="en-US" sz="9200" dirty="0"/>
          </a:p>
        </p:txBody>
      </p:sp>
      <p:sp>
        <p:nvSpPr>
          <p:cNvPr id="10" name="Text 8"/>
          <p:cNvSpPr/>
          <p:nvPr/>
        </p:nvSpPr>
        <p:spPr>
          <a:xfrm>
            <a:off x="502920" y="406908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A1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обогатительной фабрики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3A1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реальном времени — от приёма руды до отгрузки концентрата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" y="58064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· сентябрь 2026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github.com/4codegit/complex_automation_pro · лицензия MIT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85800"/>
            <a:ext cx="100584" cy="0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685800"/>
            <a:ext cx="54864" cy="-192024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493776"/>
            <a:ext cx="73152" cy="356616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850392"/>
            <a:ext cx="54864" cy="-246888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603504"/>
            <a:ext cx="73152" cy="82296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685800"/>
            <a:ext cx="100584" cy="0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8404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Задача: завод видит только часть себя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Технологические участки фабрики разрознены: сигналы живут в локальных контроллерах, оператор узнаёт о проблеме по звонку, а обрыв связи означает потерю данных.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20" y="310896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с датчиков не доходят до оператора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измерений не хранится централизованно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Отклонения от регламента видны постфактум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675120" y="123444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6903720" y="1399032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8229600" y="15087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технологических участков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 наблюдением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675120" y="283464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2999232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8229600" y="31089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промышленных протокола: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Modbus, OPC UA, Sparkplug B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75120" y="443484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4599432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8229600" y="47091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 записи в АСУ ТП 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 только наблюдает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· Complex Automation Pro — MVP · 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85800"/>
            <a:ext cx="100584" cy="0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685800"/>
            <a:ext cx="54864" cy="-192024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493776"/>
            <a:ext cx="73152" cy="356616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850392"/>
            <a:ext cx="54864" cy="-246888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603504"/>
            <a:ext cx="73152" cy="82296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685800"/>
            <a:ext cx="100584" cy="0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8404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Архитектура: edge-шлюзы и микросервисы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2377440" cy="96012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09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Датчики · PLC · DCS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20756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уровни 0–2, вне CAP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063240"/>
            <a:ext cx="2377440" cy="1234440"/>
          </a:xfrm>
          <a:prstGeom prst="roundRect">
            <a:avLst>
              <a:gd name="adj" fmla="val 4444"/>
            </a:avLst>
          </a:prstGeom>
          <a:solidFill>
            <a:srgbClr val="12314F"/>
          </a:solidFill>
          <a:ln w="12700">
            <a:solidFill>
              <a:srgbClr val="1231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172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Edge-шлюз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35387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1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буфер SQLite/WAL,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3A1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store-and-forward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749040" y="1600200"/>
            <a:ext cx="2011680" cy="2697480"/>
          </a:xfrm>
          <a:prstGeom prst="roundRect">
            <a:avLst>
              <a:gd name="adj" fmla="val 2727"/>
            </a:avLst>
          </a:prstGeom>
          <a:solidFill>
            <a:srgbClr val="12314F"/>
          </a:solidFill>
          <a:ln w="12700">
            <a:solidFill>
              <a:srgbClr val="1231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17099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gateway-api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49040" y="20756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1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точка входа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3A1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:8000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1600200"/>
            <a:ext cx="1600200" cy="786384"/>
          </a:xfrm>
          <a:prstGeom prst="roundRect">
            <a:avLst>
              <a:gd name="adj" fmla="val 69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7099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09360" y="20756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приём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0" y="1600200"/>
            <a:ext cx="1600200" cy="786384"/>
          </a:xfrm>
          <a:prstGeom prst="roundRect">
            <a:avLst>
              <a:gd name="adj" fmla="val 69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0" y="17099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46720" y="20756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2514600"/>
            <a:ext cx="1600200" cy="786384"/>
          </a:xfrm>
          <a:prstGeom prst="roundRect">
            <a:avLst>
              <a:gd name="adj" fmla="val 69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6243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09360" y="29900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аварии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46720" y="2514600"/>
            <a:ext cx="1600200" cy="786384"/>
          </a:xfrm>
          <a:prstGeom prst="roundRect">
            <a:avLst>
              <a:gd name="adj" fmla="val 69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0" y="26243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046720" y="29900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профили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09360" y="3429000"/>
            <a:ext cx="1600200" cy="786384"/>
          </a:xfrm>
          <a:prstGeom prst="roundRect">
            <a:avLst>
              <a:gd name="adj" fmla="val 69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35387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309360" y="39044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реестр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046720" y="3429000"/>
            <a:ext cx="1600200" cy="786384"/>
          </a:xfrm>
          <a:prstGeom prst="roundRect">
            <a:avLst>
              <a:gd name="adj" fmla="val 69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0" y="35387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046720" y="39044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0149840" y="1600200"/>
            <a:ext cx="1600200" cy="269748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149840" y="17099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Панель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149840" y="20756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· WebSocket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377440" y="2103120"/>
            <a:ext cx="137160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760720" y="2103120"/>
            <a:ext cx="54864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646920" y="2743200"/>
            <a:ext cx="50292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502920" y="4709160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сервисы — отдельные процессы из одного кода; в режиме разработки работают как один процесс. Контракт API и панель не меняются между режимами.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· Complex Automation Pro — MVP · 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85800"/>
            <a:ext cx="100584" cy="0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685800"/>
            <a:ext cx="54864" cy="-192024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493776"/>
            <a:ext cx="73152" cy="356616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850392"/>
            <a:ext cx="54864" cy="-246888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603504"/>
            <a:ext cx="73152" cy="82296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685800"/>
            <a:ext cx="100584" cy="0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8404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промышленных протокола из коробки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46304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691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Modbus TCP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чтение, функции 1–4. Регистры: bool, u16…f32, масштаб, перестановка слов CDAB. Реальный источник для демо — планшет с Modbus-сервером.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146304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691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 UA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26280" y="219456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 и подписки (subscriptions), безопасность Sign/SignAndEncrypt, аутентификация по сертификату x509, анонимный или логин/пароль.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92440" y="146304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691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Sparkplug B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321040" y="219456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 Primary Host Application: подписка spBv1.0/#, разрешение alias→name по Birth-сообщениям, protobuf-декодер без кодогенерации.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892040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Граница read-only — в коде: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драйверы не содержат функций записи (FC 5/6/15/16 отсутствуют). Конфигурация сигналов — одна строка на тег:  mill_power:kW|reg=hr:100:f32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· Complex Automation Pro — MVP · 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85800"/>
            <a:ext cx="100584" cy="0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685800"/>
            <a:ext cx="54864" cy="-192024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493776"/>
            <a:ext cx="73152" cy="356616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850392"/>
            <a:ext cx="54864" cy="-246888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603504"/>
            <a:ext cx="73152" cy="82296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685800"/>
            <a:ext cx="100584" cy="0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8404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Панель оператора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48056" y="1399032"/>
            <a:ext cx="7973568" cy="4790585"/>
          </a:xfrm>
          <a:prstGeom prst="roundRect">
            <a:avLst>
              <a:gd name="adj" fmla="val 9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assets/overview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53896"/>
            <a:ext cx="7863840" cy="468085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4108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Участки и живой график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641080" y="19933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карточки стадий, WebSocket-поток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64108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 каждого сигнала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641080" y="32278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/ устаревшее / нет связи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641080" y="4114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Светлая и тёмная темы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641080" y="44622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переключатель в меню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· Complex Automation Pro — MVP · 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85800"/>
            <a:ext cx="100584" cy="0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685800"/>
            <a:ext cx="54864" cy="-192024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493776"/>
            <a:ext cx="73152" cy="356616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850392"/>
            <a:ext cx="54864" cy="-246888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603504"/>
            <a:ext cx="73152" cy="82296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685800"/>
            <a:ext cx="100584" cy="0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8404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Металлургия считается, а не угадывается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48056" y="1399032"/>
            <a:ext cx="7973568" cy="4790585"/>
          </a:xfrm>
          <a:prstGeom prst="roundRect">
            <a:avLst>
              <a:gd name="adj" fmla="val 9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assets/analytics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53896"/>
            <a:ext cx="7863840" cy="4680857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641080" y="1554480"/>
            <a:ext cx="3063240" cy="896112"/>
          </a:xfrm>
          <a:prstGeom prst="roundRect">
            <a:avLst>
              <a:gd name="adj" fmla="val 6122"/>
            </a:avLst>
          </a:prstGeom>
          <a:solidFill>
            <a:srgbClr val="F1F5F9"/>
          </a:solidFill>
          <a:ln/>
        </p:spPr>
      </p:sp>
      <p:sp>
        <p:nvSpPr>
          <p:cNvPr id="12" name="Text 9"/>
          <p:cNvSpPr/>
          <p:nvPr/>
        </p:nvSpPr>
        <p:spPr>
          <a:xfrm>
            <a:off x="8796528" y="164592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Твёрдое в пульпе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796528" y="195681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%S = ρт(ρп−ρв) / (ρт−ρв)ρп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641080" y="2606040"/>
            <a:ext cx="3063240" cy="896112"/>
          </a:xfrm>
          <a:prstGeom prst="roundRect">
            <a:avLst>
              <a:gd name="adj" fmla="val 6122"/>
            </a:avLst>
          </a:prstGeom>
          <a:solidFill>
            <a:srgbClr val="F1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8796528" y="269748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Удельный расход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796528" y="300837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Qр·60 / Qт  [мЛ/т]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641080" y="3657600"/>
            <a:ext cx="3063240" cy="896112"/>
          </a:xfrm>
          <a:prstGeom prst="roundRect">
            <a:avLst>
              <a:gd name="adj" fmla="val 6122"/>
            </a:avLst>
          </a:prstGeom>
          <a:solidFill>
            <a:srgbClr val="F1F5F9"/>
          </a:solidFill>
          <a:ln/>
        </p:spPr>
      </p:sp>
      <p:sp>
        <p:nvSpPr>
          <p:cNvPr id="18" name="Text 15"/>
          <p:cNvSpPr/>
          <p:nvPr/>
        </p:nvSpPr>
        <p:spPr>
          <a:xfrm>
            <a:off x="8796528" y="37490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Сухая производительность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796528" y="405993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Qсух = Qт·(1 − W/100)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641080" y="48006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Формула на каждой карточке; нет данных — честное «нет данных», без заглушек.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· Complex Automation Pro — MVP · 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85800"/>
            <a:ext cx="100584" cy="0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685800"/>
            <a:ext cx="54864" cy="-192024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493776"/>
            <a:ext cx="73152" cy="356616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850392"/>
            <a:ext cx="54864" cy="-246888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603504"/>
            <a:ext cx="73152" cy="82296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685800"/>
            <a:ext cx="100584" cy="0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8404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Обрыв связи не теряет ни одного измерения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645920" y="1600200"/>
            <a:ext cx="566928" cy="566928"/>
          </a:xfrm>
          <a:prstGeom prst="ellipse">
            <a:avLst/>
          </a:prstGeom>
          <a:solidFill>
            <a:srgbClr val="12314F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377440" y="1883664"/>
            <a:ext cx="109728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02920" y="2377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" y="27614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шлюз опрашивает приборы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каждую секунду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1600200"/>
            <a:ext cx="566928" cy="566928"/>
          </a:xfrm>
          <a:prstGeom prst="ellipse">
            <a:avLst/>
          </a:prstGeom>
          <a:solidFill>
            <a:srgbClr val="12314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303520" y="1883664"/>
            <a:ext cx="109728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429000" y="2377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Буфер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566160" y="27614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каждое сообщение 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SQLite/WAL на краю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98080" y="1600200"/>
            <a:ext cx="566928" cy="566928"/>
          </a:xfrm>
          <a:prstGeom prst="ellipse">
            <a:avLst/>
          </a:prstGeom>
          <a:solidFill>
            <a:srgbClr val="12314F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229600" y="1883664"/>
            <a:ext cx="109728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355080" y="2377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Сбой сервера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92240" y="27614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копятся,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отсчёт не останавливается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424160" y="1600200"/>
            <a:ext cx="566928" cy="566928"/>
          </a:xfrm>
          <a:prstGeom prst="ellipse">
            <a:avLst/>
          </a:prstGeom>
          <a:solidFill>
            <a:srgbClr val="12314F"/>
          </a:solidFill>
          <a:ln/>
        </p:spPr>
      </p:sp>
      <p:sp>
        <p:nvSpPr>
          <p:cNvPr id="25" name="Text 23"/>
          <p:cNvSpPr/>
          <p:nvPr/>
        </p:nvSpPr>
        <p:spPr>
          <a:xfrm>
            <a:off x="1042416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281160" y="2377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Возврат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418320" y="27614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backfill: очередь досылается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полностью, порядок сохранён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4114800"/>
            <a:ext cx="11183112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4315968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6000" dirty="0"/>
          </a:p>
        </p:txBody>
      </p:sp>
      <p:sp>
        <p:nvSpPr>
          <p:cNvPr id="30" name="Text 28"/>
          <p:cNvSpPr/>
          <p:nvPr/>
        </p:nvSpPr>
        <p:spPr>
          <a:xfrm>
            <a:off x="2880360" y="452628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сообщений пережили демонстрационный отказ сервера —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все 64 дошли после восстановления, без потерь и дублей (сценарий demo.sh)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· Complex Automation Pro — MVP · 7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85800"/>
            <a:ext cx="100584" cy="0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685800"/>
            <a:ext cx="54864" cy="-192024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493776"/>
            <a:ext cx="73152" cy="356616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850392"/>
            <a:ext cx="54864" cy="-246888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603504"/>
            <a:ext cx="73152" cy="82296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685800"/>
            <a:ext cx="100584" cy="0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8404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Аварии по ISA-18.2, каждое действие — в аудите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1737360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544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395728" y="1554480"/>
            <a:ext cx="1737360" cy="566928"/>
          </a:xfrm>
          <a:prstGeom prst="roundRect">
            <a:avLst>
              <a:gd name="adj" fmla="val 8065"/>
            </a:avLst>
          </a:prstGeom>
          <a:solidFill>
            <a:srgbClr val="FFF1F0"/>
          </a:solidFill>
          <a:ln w="12700">
            <a:solidFill>
              <a:srgbClr val="FFA3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5728" y="15544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1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active_unack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88536" y="1554480"/>
            <a:ext cx="1737360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88536" y="15544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active_ack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81344" y="1554480"/>
            <a:ext cx="1737360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1344" y="15544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74152" y="1554480"/>
            <a:ext cx="1737360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74152" y="15544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shelved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966960" y="1554480"/>
            <a:ext cx="1737360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66960" y="15544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suppressed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224028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Жизненный цикл аварии управляется уставками активного профиля руды.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283464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294436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Квитирование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3337560" y="294436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оператор подтверждает аварию; действие фиксируется в неизменяемом журнале аудита: кто, что, когда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388620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99592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Рационализация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337560" y="399592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уставки по каждому тегу согласуются технологом и версионируются через профили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" y="493776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04748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Права доступа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3337560" y="504748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RBAC: manage_tags, acknowledge_alarms, manage_profiles… субъект без роли получает 403 и запись в аудите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· Complex Automation Pro — MVP · 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85800"/>
            <a:ext cx="100584" cy="0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685800"/>
            <a:ext cx="54864" cy="-192024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493776"/>
            <a:ext cx="73152" cy="356616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850392"/>
            <a:ext cx="54864" cy="-246888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603504"/>
            <a:ext cx="73152" cy="82296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685800"/>
            <a:ext cx="100584" cy="0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8404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Наблюдает — но не управляет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11155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Потеря или компрометация CAP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останавливает производство.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502920" y="329184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520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Уровень 3 по ISA-95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чтение из уровней 0–2; контуры регулирования, блокировки и аварийные остановы остаются в независимых системах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97680" y="329184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3520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чтение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40233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коде драйверов нет операций записи; pull используется для дозаполнения истории, никогда — для команд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92440" y="329184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3520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Прозрачность данных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40233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коды качества good/uncertain/bad/offline: плохие данные не превращаются в нормальные, прорехи видны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· Complex Automation Pro — MVP · 9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85800"/>
            <a:ext cx="100584" cy="0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685800"/>
            <a:ext cx="54864" cy="-192024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493776"/>
            <a:ext cx="73152" cy="356616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850392"/>
            <a:ext cx="54864" cy="-246888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603504"/>
            <a:ext cx="73152" cy="82296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685800"/>
            <a:ext cx="100584" cy="0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8404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 MVP и дорожная карта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46304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0FDF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691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Готово и проверено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2194560"/>
            <a:ext cx="4892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микросервисов + edge-шлюз, живой прогон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Драйверы Modbus TCP, OPC UA, Sparkplug B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Store-and-forward: отказ → полный backfill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Расчётные показатели с формулами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Аварии ISA-18.2, RBAC, аудит, профили руды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Контрактные тесты, светлая и тёмная темы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63640" y="146304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691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2240280"/>
            <a:ext cx="4892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Полевые испытания драйверов на оборудовании площадки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Брокер событий (NATS) вместо точечных EVENT_SINKS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Перенос ядра на Rust, панель оператора — на Slint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PostgreSQL-профиль, резервирование, приёмочные испытания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· Complex Automation Pro — MVP · 10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834640"/>
            <a:ext cx="442570" cy="0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5490" y="2834640"/>
            <a:ext cx="241402" cy="-844906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6891" y="1989734"/>
            <a:ext cx="321869" cy="1569110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3558845"/>
            <a:ext cx="241402" cy="-1086307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50162" y="2472538"/>
            <a:ext cx="321869" cy="362102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72030" y="2834640"/>
            <a:ext cx="442570" cy="0"/>
          </a:xfrm>
          <a:prstGeom prst="line">
            <a:avLst/>
          </a:prstGeom>
          <a:noFill/>
          <a:ln w="3048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" y="28346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</a:t>
            </a:r>
            <a:endParaRPr lang="en-US" sz="7600" dirty="0"/>
          </a:p>
        </p:txBody>
      </p:sp>
      <p:sp>
        <p:nvSpPr>
          <p:cNvPr id="9" name="Text 7"/>
          <p:cNvSpPr/>
          <p:nvPr/>
        </p:nvSpPr>
        <p:spPr>
          <a:xfrm>
            <a:off x="502920" y="416052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A1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Комплексная автоматизация, которую можно проверить: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3A1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открытый код, прозрачные формулы, честные прорехи в данных.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5394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github.com/4codegit/complex_automation_pro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Лицензия MIT · Правообладатель 4codegit ·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Complex Automation Pro (CAP)</dc:title>
  <dc:subject>PptxGenJS Presentation</dc:subject>
  <dc:creator>4codegit</dc:creator>
  <cp:lastModifiedBy>4codegit</cp:lastModifiedBy>
  <cp:revision>1</cp:revision>
  <dcterms:created xsi:type="dcterms:W3CDTF">2026-09-09T21:03:36Z</dcterms:created>
  <dcterms:modified xsi:type="dcterms:W3CDTF">2026-09-09T21:03:36Z</dcterms:modified>
</cp:coreProperties>
</file>